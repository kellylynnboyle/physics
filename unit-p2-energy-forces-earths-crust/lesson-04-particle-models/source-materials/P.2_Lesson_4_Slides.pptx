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9" r:id="rId4"/>
    <p:sldMasterId id="2147483700" r:id="rId5"/>
    <p:sldMasterId id="214748370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y="6858000" cx="12192000"/>
  <p:notesSz cx="6858000" cy="9144000"/>
  <p:embeddedFontLst>
    <p:embeddedFont>
      <p:font typeface="Roboto"/>
      <p:regular r:id="rId49"/>
      <p:bold r:id="rId50"/>
      <p:italic r:id="rId51"/>
      <p:boldItalic r:id="rId52"/>
    </p:embeddedFont>
    <p:embeddedFont>
      <p:font typeface="Boogaloo"/>
      <p:regular r:id="rId53"/>
    </p:embeddedFont>
    <p:embeddedFont>
      <p:font typeface="Cabin"/>
      <p:regular r:id="rId54"/>
      <p:bold r:id="rId55"/>
      <p:italic r:id="rId56"/>
      <p:boldItalic r:id="rId57"/>
    </p:embeddedFont>
    <p:embeddedFont>
      <p:font typeface="Open Sans"/>
      <p:regular r:id="rId58"/>
      <p:bold r:id="rId59"/>
      <p:italic r:id="rId60"/>
      <p:boldItalic r:id="rId61"/>
    </p:embeddedFont>
    <p:embeddedFont>
      <p:font typeface="Cabin Condensed"/>
      <p:regular r:id="rId62"/>
      <p:bold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CabinCondensed-regular.fntdata"/><Relationship Id="rId61" Type="http://schemas.openxmlformats.org/officeDocument/2006/relationships/font" Target="fonts/OpenSans-boldItalic.fntdata"/><Relationship Id="rId20" Type="http://schemas.openxmlformats.org/officeDocument/2006/relationships/slide" Target="slides/slide13.xml"/><Relationship Id="rId63" Type="http://schemas.openxmlformats.org/officeDocument/2006/relationships/font" Target="fonts/CabinCondensed-bold.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OpenSans-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Boogaloo-regular.fntdata"/><Relationship Id="rId52" Type="http://schemas.openxmlformats.org/officeDocument/2006/relationships/font" Target="fonts/Roboto-boldItalic.fntdata"/><Relationship Id="rId11" Type="http://schemas.openxmlformats.org/officeDocument/2006/relationships/slide" Target="slides/slide4.xml"/><Relationship Id="rId55" Type="http://schemas.openxmlformats.org/officeDocument/2006/relationships/font" Target="fonts/Cabin-bold.fntdata"/><Relationship Id="rId10" Type="http://schemas.openxmlformats.org/officeDocument/2006/relationships/slide" Target="slides/slide3.xml"/><Relationship Id="rId54" Type="http://schemas.openxmlformats.org/officeDocument/2006/relationships/font" Target="fonts/Cabin-regular.fntdata"/><Relationship Id="rId13" Type="http://schemas.openxmlformats.org/officeDocument/2006/relationships/slide" Target="slides/slide6.xml"/><Relationship Id="rId57" Type="http://schemas.openxmlformats.org/officeDocument/2006/relationships/font" Target="fonts/Cabin-boldItalic.fntdata"/><Relationship Id="rId12" Type="http://schemas.openxmlformats.org/officeDocument/2006/relationships/slide" Target="slides/slide5.xml"/><Relationship Id="rId56" Type="http://schemas.openxmlformats.org/officeDocument/2006/relationships/font" Target="fonts/Cabin-italic.fntdata"/><Relationship Id="rId15" Type="http://schemas.openxmlformats.org/officeDocument/2006/relationships/slide" Target="slides/slide8.xml"/><Relationship Id="rId59" Type="http://schemas.openxmlformats.org/officeDocument/2006/relationships/font" Target="fonts/OpenSans-bold.fntdata"/><Relationship Id="rId14" Type="http://schemas.openxmlformats.org/officeDocument/2006/relationships/slide" Target="slides/slide7.xml"/><Relationship Id="rId58" Type="http://schemas.openxmlformats.org/officeDocument/2006/relationships/font" Target="fonts/OpenSans-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0ce8e2a4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0ce8e2a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b29706bd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b29706b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0ce8e2a44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0ce8e2a4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98d36a9a9f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98d36a9a9f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8d36a9a9f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98d36a9a9f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98e917ed0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98e917ed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8e917ed0d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8e917ed0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98e917ed0d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98e917ed0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b29706bd3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b29706bd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0ce8e2a44_0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0ce8e2a4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b29706bd3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fb29706bd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a5cb8a7c1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fa5cb8a7c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a5cb8a7c1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a5cb8a7c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a5cb8a7c1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a5cb8a7c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Frame the Community Agreement of “Moving Our Thinking Forward.” </a:t>
            </a:r>
            <a:r>
              <a:rPr lang="en">
                <a:solidFill>
                  <a:schemeClr val="dk1"/>
                </a:solidFill>
                <a:latin typeface="Cabin"/>
                <a:ea typeface="Cabin"/>
                <a:cs typeface="Cabin"/>
                <a:sym typeface="Cabin"/>
              </a:rPr>
              <a:t>Present</a:t>
            </a:r>
            <a:r>
              <a:rPr b="1" lang="en">
                <a:solidFill>
                  <a:schemeClr val="dk1"/>
                </a:solidFill>
                <a:latin typeface="Cabin"/>
                <a:ea typeface="Cabin"/>
                <a:cs typeface="Cabin"/>
                <a:sym typeface="Cabin"/>
              </a:rPr>
              <a:t> slide B</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Say,</a:t>
            </a:r>
            <a:r>
              <a:rPr b="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We have made significant progress, thanks to the contributions of all of you. </a:t>
            </a:r>
            <a:r>
              <a:rPr lang="en">
                <a:solidFill>
                  <a:schemeClr val="dk1"/>
                </a:solidFill>
                <a:latin typeface="Cabin"/>
                <a:ea typeface="Cabin"/>
                <a:cs typeface="Cabin"/>
                <a:sym typeface="Cabin"/>
              </a:rPr>
              <a:t>Reference the Community Agreements poster. Suggest that the work of connecting different perspectives is challenging, and we will need to lean on each other to help push our thinking forward.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At the end of the period tomorrow, I’m going to ask you to name one student who helped push your thinking forward in a specific way. I’ll share those shout-outs with the class later in the unit.</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Then give students a moment to quietly reflect on the prompt on the slide: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Char char="●"/>
            </a:pPr>
            <a:r>
              <a:rPr i="1" lang="en">
                <a:solidFill>
                  <a:schemeClr val="dk1"/>
                </a:solidFill>
                <a:latin typeface="Cabin"/>
                <a:ea typeface="Cabin"/>
                <a:cs typeface="Cabin"/>
                <a:sym typeface="Cabin"/>
              </a:rPr>
              <a:t>What do you want to try to do in your discussions over the next two days that could really help push both your thinking and others’ thinking forward?</a:t>
            </a:r>
            <a:endParaRPr b="1">
              <a:solidFill>
                <a:schemeClr val="dk1"/>
              </a:solidFill>
              <a:latin typeface="Cabin"/>
              <a:ea typeface="Cabin"/>
              <a:cs typeface="Cabin"/>
              <a:sym typeface="Cabi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Compare structures of plate boundaries.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Read the text at the top aloud:</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Let’s prepare to use a model to simulate the interactions we think are happening between two plate boundaries.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Elicit 1-2 ideas related to the images on the slide with the prompt: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How do the edges of the foam in image A better represent the structure of the plates along their edges than image B?</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Listen for students to suggest that the foam panels in image A better represent matter along plate boundaries because the plate edges along boundaries are irregularly shaped, rather than being flat or straight as in image B.</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Foreground that today’s main practice is related to modeling.</a:t>
            </a:r>
            <a:r>
              <a:rPr lang="en">
                <a:solidFill>
                  <a:schemeClr val="dk1"/>
                </a:solidFill>
                <a:latin typeface="Cabin"/>
                <a:ea typeface="Cabin"/>
                <a:cs typeface="Cabin"/>
                <a:sym typeface="Cabin"/>
              </a:rPr>
              <a:t> Refer to picking one foam model over another (for irregular edges versus straight edges) as an example of identifying an advantage in using one part of a model versus another to explore a phenomenon. Emphasize that we will focus on that type of thinking for the rest of the lesson to consider how different models may better explain some aspects of the listed phenomena.</a:t>
            </a:r>
            <a:endParaRPr b="1" sz="14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Identify matter changes in the system.</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E</a:t>
            </a:r>
            <a:r>
              <a:rPr lang="en">
                <a:solidFill>
                  <a:schemeClr val="dk1"/>
                </a:solidFill>
                <a:latin typeface="Cabin"/>
                <a:ea typeface="Cabin"/>
                <a:cs typeface="Cabin"/>
                <a:sym typeface="Cabin"/>
              </a:rPr>
              <a:t>. Open the video and display it to the whole classroom. Turn the captions on. This video shows what happens when two foam panels with irregular edges are in contact and moving perpendicularly to each other, with force of increasing magnitude applied to their movement. During the video, the following prompts will be asked: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Consider whether we would see motion at a smaller scale if we were to zoom into any part of the matter. Imagine you can observe in a zoomed in location along the plate boundary as they do this again, and the magnitude of the external force on plate B slowly increases. </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 What would you see happening to the matter at these locations?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Consider why these particular pieces of foam would have cracked and broken off apart from the larger piece of material they were attached to. </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if anything was different about the matter at the locations where the matter broke off versus it did not? What if anything was different about the forces acting on the matter at those locations?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Pause the video when each prompt is displayed, and have students turn and talk about it before discussing it as a class. Rewind and replay any section that you think will support this discussion.</a:t>
            </a:r>
            <a:endParaRPr>
              <a:solidFill>
                <a:schemeClr val="dk1"/>
              </a:solidFill>
              <a:latin typeface="Cabin"/>
              <a:ea typeface="Cabin"/>
              <a:cs typeface="Cabin"/>
              <a:sym typeface="Cabi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Evaluate Model 1.</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F</a:t>
            </a:r>
            <a:r>
              <a:rPr lang="en">
                <a:solidFill>
                  <a:schemeClr val="dk1"/>
                </a:solidFill>
                <a:latin typeface="Cabin"/>
                <a:ea typeface="Cabin"/>
                <a:cs typeface="Cabin"/>
                <a:sym typeface="Cabin"/>
              </a:rPr>
              <a:t>. Have students reflect on the first prompt: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First take a moment to consider how Model 1 helps us explain how/why any of our listed phenomena occur.</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them 3 minutes to record their response to the slide’s second prompt on the handout: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Then evaluate the model’s advantages and limitations for helping explain these phenomena through the particular lens you selected.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Transition to the next slide by saying, </a:t>
            </a:r>
            <a:r>
              <a:rPr i="1" lang="en">
                <a:solidFill>
                  <a:schemeClr val="dk1"/>
                </a:solidFill>
                <a:latin typeface="Cabin"/>
                <a:ea typeface="Cabin"/>
                <a:cs typeface="Cabin"/>
                <a:sym typeface="Cabin"/>
              </a:rPr>
              <a:t>We should always try to evaluate the advantages and limitations of any model in terms of what phenomena it can explain. Let’s discuss a few of those related to earthquakes.</a:t>
            </a:r>
            <a:endParaRPr b="1" sz="14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Focus on points in matter where slips or breaks occur.</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G</a:t>
            </a:r>
            <a:r>
              <a:rPr lang="en">
                <a:solidFill>
                  <a:schemeClr val="dk1"/>
                </a:solidFill>
                <a:latin typeface="Cabin"/>
                <a:ea typeface="Cabin"/>
                <a:cs typeface="Cabin"/>
                <a:sym typeface="Cabin"/>
              </a:rPr>
              <a:t>. Read the text at the top:</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Plates can suddenly slip along where they are in contact with each other. The video claimed that this is the cause of many earthquakes along plate boundaries.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Discuss the slide’s two questions as a class, as shown in the table below. Use the follow-up questions to foreground the role of scale in considering matter changes in the system. 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 students’ responses to the follow-up questions, listen for the following ideas: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It is hard to detect changes in solids, because the amount of elastic deformation is relatively small compared to the amount of force for most solids.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Smaller pieces are more affected by forces than larger pieces, because they have less matter.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There are fewer particles in that part of the matter.</a:t>
            </a:r>
            <a:endParaRPr>
              <a:solidFill>
                <a:schemeClr val="dk1"/>
              </a:solidFill>
              <a:latin typeface="Cabin"/>
              <a:ea typeface="Cabin"/>
              <a:cs typeface="Cabin"/>
              <a:sym typeface="Cabi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Review types of particles.</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I</a:t>
            </a:r>
            <a:r>
              <a:rPr lang="en">
                <a:solidFill>
                  <a:schemeClr val="dk1"/>
                </a:solidFill>
                <a:latin typeface="Cabin"/>
                <a:ea typeface="Cabin"/>
                <a:cs typeface="Cabin"/>
                <a:sym typeface="Cabin"/>
              </a:rPr>
              <a:t>. Read the text at the top, and elicit 1-2 ideas with the prompt: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Particles is a general name for the smallest pieces of matter represented in a model we develop or use.</a:t>
            </a:r>
            <a:endParaRPr i="1">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What names have we used to refer to those particles in our prior modeling work in science class?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Listen for students to mention atoms, molecules, electrons, and protons.</a:t>
            </a:r>
            <a:endParaRPr b="1" sz="140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particle-level interactions.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J</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Have students turn and talk for a minute about the prompt: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What is happening at the particle level within a solid that helps explain either of these behaviors of matter? (You pick.)</a:t>
            </a:r>
            <a:endParaRPr i="1">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All solids elastically deform up to a point.</a:t>
            </a:r>
            <a:endParaRPr i="1">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Pieces of a solid can break off when the matter reaches its elastic limit.</a:t>
            </a:r>
            <a:endParaRPr b="1" sz="14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Compare models of bonds.</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In Chemistry, you would have probably used the term “bonds” to describe what holds atoms or molecules in a solid together</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K</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Read all of the slide aloud:</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Bonds between atoms or molecules are often used to help explain some of the properties of matter. What does your own model suggest about what the bonds between these particles in a solid are like?</a:t>
            </a:r>
            <a:endParaRPr i="1">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They are like strings.</a:t>
            </a:r>
            <a:endParaRPr i="1">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They are like springs.</a:t>
            </a:r>
            <a:endParaRPr i="1">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They are like rigid sticks.</a:t>
            </a:r>
            <a:endParaRPr i="1">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They are like _________.</a:t>
            </a:r>
            <a:endParaRPr i="1">
              <a:solidFill>
                <a:schemeClr val="dk1"/>
              </a:solidFill>
              <a:latin typeface="Cabin"/>
              <a:ea typeface="Cabin"/>
              <a:cs typeface="Cabin"/>
              <a:sym typeface="Cabin"/>
            </a:endParaRPr>
          </a:p>
          <a:p>
            <a:pPr indent="0" lvl="0" marL="45720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Explain that the blank option is included because these models are all analogies, which are useful in some ways but limited in others, and students may think a different model would be a more useful analogy. Give them a few moments to think on their own before polling the class about which of the listed options is closest to their own model of the bonds in a solid.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the poll, validate that scientists represent bonds in many ways, such as those on the slide, and that these representations help explain some properties of matter but not all. Say,</a:t>
            </a:r>
            <a:r>
              <a:rPr i="1" lang="en">
                <a:solidFill>
                  <a:schemeClr val="dk1"/>
                </a:solidFill>
                <a:latin typeface="Cabin"/>
                <a:ea typeface="Cabin"/>
                <a:cs typeface="Cabin"/>
                <a:sym typeface="Cabin"/>
              </a:rPr>
              <a:t> If you asked scientists whether bonds are actually solid physical structures, like a string, spring, or stick, they’d say that they are not, and that bonds are actually stable states that emerge from the electric forces between the charged particles that make up atoms and molecules.</a:t>
            </a:r>
            <a:endParaRPr b="1" sz="14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Model 2.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The second model we’re going to evaluate uses magnets to simulate the interactions between the nuclei of an atom and electrons that produce bonds between two atoms in a solid. As with Model 1, we’ll use a video to orient to Model 2 and discuss what is happening through any lens that you choose.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M</a:t>
            </a:r>
            <a:r>
              <a:rPr lang="en">
                <a:solidFill>
                  <a:schemeClr val="dk1"/>
                </a:solidFill>
                <a:latin typeface="Cabin"/>
                <a:ea typeface="Cabin"/>
                <a:cs typeface="Cabin"/>
                <a:sym typeface="Cabin"/>
              </a:rPr>
              <a:t>. Open [video:OP.PF.VID.L4.006] and display it to the whole classroom. Turn the captions on. This video shows particle-level interactions, using magnets of different sizes to represent the nuclei and electrons of an atom. During the video, the following prompts will be asked: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relationships do you notice between the distance between the magnets and the forces acting on them?</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Predict what you think the net force will be on these parts as we bring them together?</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does this tell us about the magnitude of the repulsive versus attractive forces acting on the magnets at this point in the system</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Pause the video when each prompt is displayed in the video, and have students turn and talk about it before discussing it as a class. Rewind and replay any section that you think will support this discussion.</a:t>
            </a:r>
            <a:endParaRPr>
              <a:solidFill>
                <a:schemeClr val="dk1"/>
              </a:solidFill>
              <a:latin typeface="Cabin"/>
              <a:ea typeface="Cabin"/>
              <a:cs typeface="Cabin"/>
              <a:sym typeface="Cabi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Evaluate Model 2.</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N</a:t>
            </a:r>
            <a:r>
              <a:rPr lang="en">
                <a:solidFill>
                  <a:schemeClr val="dk1"/>
                </a:solidFill>
                <a:latin typeface="Cabin"/>
                <a:ea typeface="Cabin"/>
                <a:cs typeface="Cabin"/>
                <a:sym typeface="Cabin"/>
              </a:rPr>
              <a:t>. Give students a moment to consider how Model 2 helps us to explain how/why any of our listed phenomena occur. Then cue them to record the model’s advantages (merits) and limitations on their handout, as well as the lens they are using to evaluate it.</a:t>
            </a:r>
            <a:endParaRPr b="1" sz="1400">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Brainstorm about a simulation. </a:t>
            </a:r>
            <a:r>
              <a:rPr lang="en">
                <a:solidFill>
                  <a:schemeClr val="dk1"/>
                </a:solidFill>
                <a:latin typeface="Cabin"/>
                <a:ea typeface="Cabin"/>
                <a:cs typeface="Cabin"/>
                <a:sym typeface="Cabin"/>
              </a:rPr>
              <a:t>Say,</a:t>
            </a:r>
            <a:r>
              <a:rPr b="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To prepare to use a third model, which is a particle-level computer simulation, let’s specify what we think it should have or do, based on our model evaluation work so far. </a:t>
            </a:r>
            <a:r>
              <a:rPr lang="en">
                <a:solidFill>
                  <a:schemeClr val="dk1"/>
                </a:solidFill>
                <a:latin typeface="Cabin"/>
                <a:ea typeface="Cabin"/>
                <a:cs typeface="Cabin"/>
                <a:sym typeface="Cabin"/>
              </a:rPr>
              <a:t>Present</a:t>
            </a:r>
            <a:r>
              <a:rPr b="1" lang="en">
                <a:solidFill>
                  <a:schemeClr val="dk1"/>
                </a:solidFill>
                <a:latin typeface="Cabin"/>
                <a:ea typeface="Cabin"/>
                <a:cs typeface="Cabin"/>
                <a:sym typeface="Cabin"/>
              </a:rPr>
              <a:t> slide O</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Discuss the three prompts as a class, as shown in the table below. See the prompts in the teacher guide for support. Say, </a:t>
            </a:r>
            <a:r>
              <a:rPr i="1" lang="en">
                <a:solidFill>
                  <a:schemeClr val="dk1"/>
                </a:solidFill>
                <a:latin typeface="Cabin"/>
                <a:ea typeface="Cabin"/>
                <a:cs typeface="Cabin"/>
                <a:sym typeface="Cabin"/>
              </a:rPr>
              <a:t>Let’s compare the features we specified to the simulation I have for us, and consider how we could use it to design investigations to help answer some of our questions.</a:t>
            </a:r>
            <a:endParaRPr>
              <a:solidFill>
                <a:schemeClr val="dk1"/>
              </a:solidFill>
              <a:latin typeface="Cabin"/>
              <a:ea typeface="Cabin"/>
              <a:cs typeface="Cabin"/>
              <a:sym typeface="Cabi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Orient to the simulation.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Play the video </a:t>
            </a:r>
            <a:r>
              <a:rPr lang="en">
                <a:solidFill>
                  <a:srgbClr val="0B0B0B"/>
                </a:solidFill>
                <a:latin typeface="Cabin"/>
                <a:ea typeface="Cabin"/>
                <a:cs typeface="Cabin"/>
                <a:sym typeface="Cabin"/>
              </a:rPr>
              <a:t>to introduce the simulation’s assumptions, representations, and variables. </a:t>
            </a:r>
            <a:r>
              <a:rPr lang="en">
                <a:solidFill>
                  <a:schemeClr val="dk1"/>
                </a:solidFill>
                <a:latin typeface="Cabin"/>
                <a:ea typeface="Cabin"/>
                <a:cs typeface="Cabin"/>
                <a:sym typeface="Cabin"/>
              </a:rPr>
              <a:t>Distribute the handout.</a:t>
            </a:r>
            <a:endParaRPr sz="1400">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Prepare for the investigation.</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Q</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Assign students to groups of 2-3. Read the task instructions aloud:</a:t>
            </a:r>
            <a:endParaRPr>
              <a:solidFill>
                <a:schemeClr val="dk1"/>
              </a:solidFill>
              <a:latin typeface="Cabin"/>
              <a:ea typeface="Cabin"/>
              <a:cs typeface="Cabin"/>
              <a:sym typeface="Cabin"/>
            </a:endParaRPr>
          </a:p>
          <a:p>
            <a:pPr indent="-298450" lvl="0"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Decide which independent variable each person will investigate.</a:t>
            </a:r>
            <a:endParaRPr i="1">
              <a:solidFill>
                <a:schemeClr val="dk1"/>
              </a:solidFill>
              <a:latin typeface="Cabin"/>
              <a:ea typeface="Cabin"/>
              <a:cs typeface="Cabin"/>
              <a:sym typeface="Cabin"/>
            </a:endParaRPr>
          </a:p>
          <a:p>
            <a:pPr indent="-298450" lvl="0" marL="9144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Record this on Part 1 of your handout.</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Have students store the handout in their science notebooks. Collect the handout before the end of the class period.</a:t>
            </a:r>
            <a:endParaRPr sz="140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a6651dcc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fa6651dc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results with a partner.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S</a:t>
            </a:r>
            <a:r>
              <a:rPr lang="en">
                <a:solidFill>
                  <a:schemeClr val="dk1"/>
                </a:solidFill>
                <a:latin typeface="Cabin"/>
                <a:ea typeface="Cabin"/>
                <a:cs typeface="Cabin"/>
                <a:sym typeface="Cabin"/>
              </a:rPr>
              <a:t>. Ask students to share with a partner how the changes in their independent variable affected the outcomes in the simulation. If they only get to discuss their results from Investigation 1, that is OK. This is enough to prepare them to share all their findings in the Scientists Circle.</a:t>
            </a:r>
            <a:endParaRPr sz="140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Facilitate a Consensus Discussion in</a:t>
            </a:r>
            <a:r>
              <a:rPr b="1" lang="en">
                <a:solidFill>
                  <a:schemeClr val="dk1"/>
                </a:solidFill>
                <a:latin typeface="Cabin"/>
                <a:ea typeface="Cabin"/>
                <a:cs typeface="Cabin"/>
                <a:sym typeface="Cabin"/>
              </a:rPr>
              <a:t> a Scientists Circle.</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T</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Have students bring their handout to a Scientists Circle. </a:t>
            </a:r>
            <a:r>
              <a:rPr lang="en">
                <a:solidFill>
                  <a:srgbClr val="0B0B0B"/>
                </a:solidFill>
                <a:latin typeface="Cabin"/>
                <a:ea typeface="Cabin"/>
                <a:cs typeface="Cabin"/>
                <a:sym typeface="Cabin"/>
              </a:rPr>
              <a:t>Tell them explicitly,</a:t>
            </a:r>
            <a:r>
              <a:rPr i="1" lang="en">
                <a:solidFill>
                  <a:srgbClr val="0B0B0B"/>
                </a:solidFill>
                <a:latin typeface="Cabin"/>
                <a:ea typeface="Cabin"/>
                <a:cs typeface="Cabin"/>
                <a:sym typeface="Cabin"/>
              </a:rPr>
              <a:t> As in all Consensus Discussions, my role is to give everyone time to consider each proposed idea, and to weigh in on those ideas. Today we’ll consider additions to our M-E-F poster. I’ll need everyone to weigh in on those before we add anything to it.</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macroscopic changes.</a:t>
            </a:r>
            <a:r>
              <a:rPr lang="en">
                <a:solidFill>
                  <a:schemeClr val="dk1"/>
                </a:solidFill>
                <a:latin typeface="Cabin"/>
                <a:ea typeface="Cabin"/>
                <a:cs typeface="Cabin"/>
                <a:sym typeface="Cabin"/>
              </a:rPr>
              <a:t> Use the foam panel with a narrow middle section for a demonstration to establish the relationship between changes in external forces applied to a system and macroscopic changes in its matter. This supports considering differences in particle-level forces at different parts of the system. Say, </a:t>
            </a:r>
            <a:r>
              <a:rPr i="1" lang="en">
                <a:solidFill>
                  <a:schemeClr val="dk1"/>
                </a:solidFill>
                <a:latin typeface="Cabin"/>
                <a:ea typeface="Cabin"/>
                <a:cs typeface="Cabin"/>
                <a:sym typeface="Cabin"/>
              </a:rPr>
              <a:t>Let’s use some of the M-E-F prompts and our ideas from all three models to see how particle-level thinking can help us better explain the changes in matter that we’ve observed.</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Hold up a </a:t>
            </a:r>
            <a:r>
              <a:rPr lang="en">
                <a:solidFill>
                  <a:srgbClr val="0B0B0B"/>
                </a:solidFill>
                <a:latin typeface="Cabin"/>
                <a:ea typeface="Cabin"/>
                <a:cs typeface="Cabin"/>
                <a:sym typeface="Cabin"/>
              </a:rPr>
              <a:t>double V-notched foam piece (3” x 12” x ½”). C</a:t>
            </a:r>
            <a:r>
              <a:rPr lang="en">
                <a:solidFill>
                  <a:schemeClr val="dk1"/>
                </a:solidFill>
                <a:latin typeface="Cabin"/>
                <a:ea typeface="Cabin"/>
                <a:cs typeface="Cabin"/>
                <a:sym typeface="Cabin"/>
              </a:rPr>
              <a:t>ompress it with your hands from both ends until it is in a slightly bowed shape, before it starts cracking. Ask, </a:t>
            </a:r>
            <a:r>
              <a:rPr i="1" lang="en">
                <a:solidFill>
                  <a:schemeClr val="dk1"/>
                </a:solidFill>
                <a:latin typeface="Cabin"/>
                <a:ea typeface="Cabin"/>
                <a:cs typeface="Cabin"/>
                <a:sym typeface="Cabin"/>
              </a:rPr>
              <a:t>What changes do we see in this matter right now?</a:t>
            </a:r>
            <a:r>
              <a:rPr lang="en">
                <a:solidFill>
                  <a:schemeClr val="dk1"/>
                </a:solidFill>
                <a:latin typeface="Cabin"/>
                <a:ea typeface="Cabin"/>
                <a:cs typeface="Cabin"/>
                <a:sym typeface="Cabin"/>
              </a:rPr>
              <a:t> Listen for the following observations: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foam is bending.</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foam is changing shape.</a:t>
            </a:r>
            <a:endParaRPr i="1">
              <a:solidFill>
                <a:srgbClr val="0B0B0B"/>
              </a:solidFill>
              <a:latin typeface="Cabin"/>
              <a:ea typeface="Cabin"/>
              <a:cs typeface="Cabin"/>
              <a:sym typeface="Cabi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how forces acting on the system affect the matter.</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We saw in the simulation that paying attention to changes in particles helped us explain changes in shape. Let’s consider what’s happening at the particle level here.</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U</a:t>
            </a:r>
            <a:r>
              <a:rPr lang="en">
                <a:solidFill>
                  <a:srgbClr val="0B0B0B"/>
                </a:solidFill>
                <a:latin typeface="Cabin"/>
                <a:ea typeface="Cabin"/>
                <a:cs typeface="Cabin"/>
                <a:sym typeface="Cabin"/>
              </a:rPr>
              <a:t>. Use the prompts to elicit ideas about the demonstrated changes in the foam:</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Consider whether forces acting on particles are balanced or unbalanced in the following conditions:</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No external forces are acting on the foam.</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Forces start bending the foam.</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Forces stop bending the foam, but keep it bent.</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Forces continue bending the foam, and cracks appear.</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The foam breaks into two pieces.</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is happening to the particles along this sequence?</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The class discussion might play out as shown in the table below.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fa5cb8a7c1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g3fa5cb8a7c1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how forces acting on the system affect the matter.</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We saw in the simulation that paying attention to changes in particles helped us explain changes in shape. Let’s consider what’s happening at the particle level here.</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U</a:t>
            </a:r>
            <a:r>
              <a:rPr lang="en">
                <a:solidFill>
                  <a:srgbClr val="0B0B0B"/>
                </a:solidFill>
                <a:latin typeface="Cabin"/>
                <a:ea typeface="Cabin"/>
                <a:cs typeface="Cabin"/>
                <a:sym typeface="Cabin"/>
              </a:rPr>
              <a:t>. Use the prompts to elicit ideas about the demonstrated changes in the foam:</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Consider whether forces acting on particles are balanced or unbalanced in the following conditions:</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No external forces are acting on the foam.</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Forces start bending the foam.</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Forces stop bending the foam, but keep it bent.</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Forces continue bending the foam, and cracks appear.</a:t>
            </a:r>
            <a:endParaRPr i="1">
              <a:solidFill>
                <a:srgbClr val="0B0B0B"/>
              </a:solidFill>
              <a:latin typeface="Cabin"/>
              <a:ea typeface="Cabin"/>
              <a:cs typeface="Cabin"/>
              <a:sym typeface="Cabin"/>
            </a:endParaRPr>
          </a:p>
          <a:p>
            <a:pPr indent="-298450" lvl="0" marL="914400" rtl="0" algn="l">
              <a:lnSpc>
                <a:spcPct val="115000"/>
              </a:lnSpc>
              <a:spcBef>
                <a:spcPts val="0"/>
              </a:spcBef>
              <a:spcAft>
                <a:spcPts val="0"/>
              </a:spcAft>
              <a:buClr>
                <a:srgbClr val="0B0B0B"/>
              </a:buClr>
              <a:buSzPts val="1100"/>
              <a:buFont typeface="Cabin"/>
              <a:buAutoNum type="arabicPeriod"/>
            </a:pPr>
            <a:r>
              <a:rPr i="1" lang="en">
                <a:solidFill>
                  <a:srgbClr val="0B0B0B"/>
                </a:solidFill>
                <a:latin typeface="Cabin"/>
                <a:ea typeface="Cabin"/>
                <a:cs typeface="Cabin"/>
                <a:sym typeface="Cabin"/>
              </a:rPr>
              <a:t>The foam breaks into two pieces.</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is happening to the particles along this sequence?</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The class discussion might play out as shown in the table below.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particle-level changes in the system.</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V</a:t>
            </a:r>
            <a:r>
              <a:rPr lang="en">
                <a:solidFill>
                  <a:srgbClr val="0B0B0B"/>
                </a:solidFill>
                <a:latin typeface="Cabin"/>
                <a:ea typeface="Cabin"/>
                <a:cs typeface="Cabin"/>
                <a:sym typeface="Cabin"/>
              </a:rPr>
              <a:t>. Lead students to summarize the role of unbalanced forces with the prompt:</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causes all changes in motion, whether the motion is at the particle level or macroscopic?</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Students should say that unbalanced forces cause all changes in motion. Point out that we have seen unbalanced forces cause several types of changes: motion, shape change, and breaking. Suggest we use this insight to simplify the entire set of changes we listed under the “Matter” section on the M-E-F poster, as they are all changes in motion.</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Emphasize that we will continue to use this idea as a way of explaining all changes we observe in matter.</a:t>
            </a:r>
            <a:endParaRPr>
              <a:solidFill>
                <a:srgbClr val="0B0B0B"/>
              </a:solidFill>
              <a:latin typeface="Cabin"/>
              <a:ea typeface="Cabin"/>
              <a:cs typeface="Cabin"/>
              <a:sym typeface="Cabi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how the amount of matter affects the forces acting on it.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W</a:t>
            </a:r>
            <a:r>
              <a:rPr lang="en">
                <a:solidFill>
                  <a:srgbClr val="0B0B0B"/>
                </a:solidFill>
                <a:latin typeface="Cabin"/>
                <a:ea typeface="Cabin"/>
                <a:cs typeface="Cabin"/>
                <a:sym typeface="Cabin"/>
              </a:rPr>
              <a: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Continue the discussion with the prompts, as shown in the table below.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Introduce term used to describe forces on particles.</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When scientists consider the average amount of force per particle, they sometimes refer to this as “pressure.” </a:t>
            </a:r>
            <a:r>
              <a:rPr lang="en">
                <a:solidFill>
                  <a:srgbClr val="0B0B0B"/>
                </a:solidFill>
                <a:latin typeface="Cabin"/>
                <a:ea typeface="Cabin"/>
                <a:cs typeface="Cabin"/>
                <a:sym typeface="Cabin"/>
              </a:rPr>
              <a:t>Ask for another example of hearing the term </a:t>
            </a:r>
            <a:r>
              <a:rPr i="1" lang="en">
                <a:solidFill>
                  <a:srgbClr val="0B0B0B"/>
                </a:solidFill>
                <a:latin typeface="Cabin"/>
                <a:ea typeface="Cabin"/>
                <a:cs typeface="Cabin"/>
                <a:sym typeface="Cabin"/>
              </a:rPr>
              <a:t>pressure </a:t>
            </a:r>
            <a:r>
              <a:rPr lang="en">
                <a:solidFill>
                  <a:srgbClr val="0B0B0B"/>
                </a:solidFill>
                <a:latin typeface="Cabin"/>
                <a:ea typeface="Cabin"/>
                <a:cs typeface="Cabin"/>
                <a:sym typeface="Cabin"/>
              </a:rPr>
              <a:t>referring to this sort of force. Students who completed [material:ce] will provide examples of force on a piston surface due to particle collisions in a combustion engine.</a:t>
            </a:r>
            <a:endParaRPr>
              <a:solidFill>
                <a:schemeClr val="dk1"/>
              </a:solidFill>
              <a:latin typeface="Cabin"/>
              <a:ea typeface="Cabin"/>
              <a:cs typeface="Cabin"/>
              <a:sym typeface="Cabi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X</a:t>
            </a:r>
            <a:r>
              <a:rPr lang="en">
                <a:solidFill>
                  <a:srgbClr val="0B0B0B"/>
                </a:solidFill>
                <a:latin typeface="Cabin"/>
                <a:ea typeface="Cabin"/>
                <a:cs typeface="Cabin"/>
                <a:sym typeface="Cabin"/>
              </a:rPr>
              <a:t>. Slowly bend the foam to its breaking point, asking students to pay attention to what they see happening. The foam will snap, and pieces may fly off. Turn the broken faces of the foam toward students and point along it when you ask the questions shown in the table below. </a:t>
            </a:r>
            <a:r>
              <a:rPr lang="en">
                <a:solidFill>
                  <a:schemeClr val="dk1"/>
                </a:solidFill>
                <a:latin typeface="Cabin"/>
                <a:ea typeface="Cabin"/>
                <a:cs typeface="Cabin"/>
                <a:sym typeface="Cabin"/>
              </a:rPr>
              <a:t>See the prompts in the teacher guide for support.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Identify the role of fields.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We have argued that electrons and protons produce electric fields. So, because all atoms have these particles, we can say that all matter produces fields. In a solid, these electric fields produce forces that act on neighboring particles in ways that explain all sorts of macroscopic behavior. </a:t>
            </a:r>
            <a:r>
              <a:rPr lang="en">
                <a:solidFill>
                  <a:srgbClr val="0B0B0B"/>
                </a:solidFill>
                <a:latin typeface="Cabin"/>
                <a:ea typeface="Cabin"/>
                <a:cs typeface="Cabin"/>
                <a:sym typeface="Cabin"/>
              </a:rPr>
              <a:t>Update the M-E-F poster.</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a:t>
            </a:r>
            <a:r>
              <a:rPr i="1" lang="en">
                <a:solidFill>
                  <a:srgbClr val="0B0B0B"/>
                </a:solidFill>
                <a:latin typeface="Cabin"/>
                <a:ea typeface="Cabin"/>
                <a:cs typeface="Cabin"/>
                <a:sym typeface="Cabin"/>
              </a:rPr>
              <a:t> Let’s see how this idea of fields can also be used to help explain how energy is transferred and stored in the system.</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Connect to prior discussions</a:t>
            </a:r>
            <a:r>
              <a:rPr lang="en">
                <a:solidFill>
                  <a:srgbClr val="0B0B0B"/>
                </a:solidFill>
                <a:latin typeface="Cabin"/>
                <a:ea typeface="Cabin"/>
                <a:cs typeface="Cabin"/>
                <a:sym typeface="Cabin"/>
              </a:rPr>
              <a:t>. Continue, </a:t>
            </a:r>
            <a:r>
              <a:rPr i="1" lang="en">
                <a:solidFill>
                  <a:srgbClr val="0B0B0B"/>
                </a:solidFill>
                <a:latin typeface="Cabin"/>
                <a:ea typeface="Cabin"/>
                <a:cs typeface="Cabin"/>
                <a:sym typeface="Cabin"/>
              </a:rPr>
              <a:t>When the foam is being held in this stable bent shape, there’s no measurable energy increase in the system, like increased kinetic energy or temperature. So, we need to find a way to describe exactly where the energy is being stored; otherwise, we won’t be able to account for conservation of energy--something that we know should occur in every process. When changes in the distance between objects or between particles acting on each other through fields affect the amount of energy stored in the system, scientists say the energy is being transferred into or out of, or stored in, the fields.</a:t>
            </a:r>
            <a:endParaRPr i="1">
              <a:solidFill>
                <a:srgbClr val="0B0B0B"/>
              </a:solidFill>
              <a:latin typeface="Cabin"/>
              <a:ea typeface="Cabin"/>
              <a:cs typeface="Cabin"/>
              <a:sym typeface="Cabi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0" name="Google Shape;54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matter and energy relationships.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Y</a:t>
            </a:r>
            <a:r>
              <a:rPr i="1" lang="en">
                <a:solidFill>
                  <a:srgbClr val="0B0B0B"/>
                </a:solidFill>
                <a:latin typeface="Cabin"/>
                <a:ea typeface="Cabin"/>
                <a:cs typeface="Cabin"/>
                <a:sym typeface="Cabin"/>
              </a:rPr>
              <a:t>. </a:t>
            </a:r>
            <a:r>
              <a:rPr lang="en">
                <a:solidFill>
                  <a:srgbClr val="0B0B0B"/>
                </a:solidFill>
                <a:latin typeface="Cabin"/>
                <a:ea typeface="Cabin"/>
                <a:cs typeface="Cabin"/>
                <a:sym typeface="Cabin"/>
              </a:rPr>
              <a:t>Continue the discussion with the prompts, as shown in the table below. Encourage students to refer to their handout as needed.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Use our new ideas to explain earthquakes.</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Z</a:t>
            </a:r>
            <a:r>
              <a:rPr lang="en">
                <a:solidFill>
                  <a:srgbClr val="0B0B0B"/>
                </a:solidFill>
                <a:latin typeface="Cabin"/>
                <a:ea typeface="Cabin"/>
                <a:cs typeface="Cabin"/>
                <a:sym typeface="Cabin"/>
              </a:rPr>
              <a: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Discuss the prompts, as shown below.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Revise the posters.</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AA</a:t>
            </a:r>
            <a:r>
              <a:rPr lang="en">
                <a:solidFill>
                  <a:srgbClr val="0B0B0B"/>
                </a:solidFill>
                <a:latin typeface="Cabin"/>
                <a:ea typeface="Cabin"/>
                <a:cs typeface="Cabin"/>
                <a:sym typeface="Cabin"/>
              </a:rPr>
              <a:t>. Emphasize that we can now say that what happens at a very small scale--the particle level--can explain changes seen in the plates at a much larger scale, including earthquakes and cracks. Part of that explanation is related to the amount of elastic deformation in the system, which steadily increases over time.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 you update the M-E-F poster, ask how we knew whether electricity was transferring energy through the system for the electricity-powered devices in [material:pe.n]. Students will say heat, light, and maybe sound coming from those devices. Validate these responses.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Summarize the relationship between particle-level matter changes and energy stored in the matter.</a:t>
            </a:r>
            <a:r>
              <a:rPr lang="en">
                <a:solidFill>
                  <a:schemeClr val="dk1"/>
                </a:solidFill>
                <a:latin typeface="Cabin"/>
                <a:ea typeface="Cabin"/>
                <a:cs typeface="Cabin"/>
                <a:sym typeface="Cabin"/>
              </a:rPr>
              <a:t> Point out that we are considering how energy is stored in systems in a new way, related to elastic deformation. Note that this involves thinking about the motion of particles in matter and about the energy stored in the fields based on their relative positions in space.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Emphasize that in our prior unit, we also thought about electricity in terms of particle motion and fields transferring energy, though we didn’t focus on how fields can store energy. Ask students to recall what particles we studied in that system, and what types of fields transferred energy from the generator through space to the wires. They will say electrons in wires, and electric and magnetic fields.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Summarize how to account for energy changes in a system.</a:t>
            </a:r>
            <a:r>
              <a:rPr lang="en">
                <a:solidFill>
                  <a:schemeClr val="dk1"/>
                </a:solidFill>
                <a:latin typeface="Cabin"/>
                <a:ea typeface="Cabin"/>
                <a:cs typeface="Cabin"/>
                <a:sym typeface="Cabin"/>
              </a:rPr>
              <a:t> Point out that it is not only elastic deformation and electricity that can be broken down into a combination of one or two things that describe where energy is in the system and how it is transferred. We can also think in this way about the kinetic energy </a:t>
            </a:r>
            <a:r>
              <a:rPr b="1" lang="en">
                <a:solidFill>
                  <a:schemeClr val="dk1"/>
                </a:solidFill>
                <a:latin typeface="Cabin"/>
                <a:ea typeface="Cabin"/>
                <a:cs typeface="Cabin"/>
                <a:sym typeface="Cabin"/>
              </a:rPr>
              <a:t>of</a:t>
            </a:r>
            <a:r>
              <a:rPr lang="en">
                <a:solidFill>
                  <a:schemeClr val="dk1"/>
                </a:solidFill>
                <a:latin typeface="Cabin"/>
                <a:ea typeface="Cabin"/>
                <a:cs typeface="Cabin"/>
                <a:sym typeface="Cabin"/>
              </a:rPr>
              <a:t> objects (generators, magnets, plates) or particles (electrons, atoms, molecules) and the energy </a:t>
            </a:r>
            <a:r>
              <a:rPr b="1" lang="en">
                <a:solidFill>
                  <a:schemeClr val="dk1"/>
                </a:solidFill>
                <a:latin typeface="Cabin"/>
                <a:ea typeface="Cabin"/>
                <a:cs typeface="Cabin"/>
                <a:sym typeface="Cabin"/>
              </a:rPr>
              <a:t>in</a:t>
            </a:r>
            <a:r>
              <a:rPr lang="en">
                <a:solidFill>
                  <a:schemeClr val="dk1"/>
                </a:solidFill>
                <a:latin typeface="Cabin"/>
                <a:ea typeface="Cabin"/>
                <a:cs typeface="Cabin"/>
                <a:sym typeface="Cabin"/>
              </a:rPr>
              <a:t> fields (electric, magnetic).</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Challenge students to keep this lens in mind going forward--that we can, if needed, account for all changes in energy as a combination of changes in kinetic energy and changes in energy stored in fields, even if the everyday name we give to the transfer of that energy is “sound” or “heat”.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Use these ideas to update the M-E-F poster.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Emphasize that we just applied our M-E-F thinking to two Earth science phenomena, and we should recognize that going forward, we can now explain any Earth science phenomenon from a particle-level perspective. Point to the Scale Chart poster and its sticky note for volcanic eruption, and forecast that we will apply our thinking to this phenomenon in the upcoming Electronic Exit Ticket.</a:t>
            </a:r>
            <a:endParaRPr>
              <a:solidFill>
                <a:schemeClr val="dk1"/>
              </a:solidFill>
              <a:latin typeface="Cabin"/>
              <a:ea typeface="Cabin"/>
              <a:cs typeface="Cabin"/>
              <a:sym typeface="Cabi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Assign the Electronic Exit Ticket.</a:t>
            </a:r>
            <a:r>
              <a:rPr lang="en">
                <a:solidFill>
                  <a:srgbClr val="0B0B0B"/>
                </a:solidFill>
                <a:latin typeface="Cabin"/>
                <a:ea typeface="Cabin"/>
                <a:cs typeface="Cabin"/>
                <a:sym typeface="Cabin"/>
              </a:rPr>
              <a:t> Before class, make a copy of the video. Share the link to the copy with students (</a:t>
            </a:r>
            <a:r>
              <a:rPr b="1" lang="en">
                <a:solidFill>
                  <a:srgbClr val="0B0B0B"/>
                </a:solidFill>
                <a:latin typeface="Cabin"/>
                <a:ea typeface="Cabin"/>
                <a:cs typeface="Cabin"/>
                <a:sym typeface="Cabin"/>
              </a:rPr>
              <a:t>do not </a:t>
            </a:r>
            <a:r>
              <a:rPr lang="en">
                <a:solidFill>
                  <a:srgbClr val="0B0B0B"/>
                </a:solidFill>
                <a:latin typeface="Cabin"/>
                <a:ea typeface="Cabin"/>
                <a:cs typeface="Cabin"/>
                <a:sym typeface="Cabin"/>
              </a:rPr>
              <a:t>share the original link, as that will create a new copy for each student, and you will not have access to their responses). Present </a:t>
            </a:r>
            <a:r>
              <a:rPr b="1" lang="en">
                <a:solidFill>
                  <a:srgbClr val="0B0B0B"/>
                </a:solidFill>
                <a:latin typeface="Cabin"/>
                <a:ea typeface="Cabin"/>
                <a:cs typeface="Cabin"/>
                <a:sym typeface="Cabin"/>
              </a:rPr>
              <a:t>slide BB</a:t>
            </a:r>
            <a:r>
              <a:rPr lang="en">
                <a:solidFill>
                  <a:srgbClr val="0B0B0B"/>
                </a:solidFill>
                <a:latin typeface="Cabin"/>
                <a:ea typeface="Cabin"/>
                <a:cs typeface="Cabin"/>
                <a:sym typeface="Cabin"/>
              </a:rPr>
              <a:t>. Give them 10-12 minutes to complete the Electronic Exit Ticket individually.</a:t>
            </a:r>
            <a:endParaRPr b="1">
              <a:solidFill>
                <a:schemeClr val="dk1"/>
              </a:solidFill>
              <a:latin typeface="Cabin"/>
              <a:ea typeface="Cabin"/>
              <a:cs typeface="Cabin"/>
              <a:sym typeface="Cabi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1" name="Google Shape;58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Navigate into Lesson 5.</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CC</a:t>
            </a:r>
            <a:r>
              <a:rPr lang="en">
                <a:solidFill>
                  <a:srgbClr val="0B0B0B"/>
                </a:solidFill>
                <a:latin typeface="Cabin"/>
                <a:ea typeface="Cabin"/>
                <a:cs typeface="Cabin"/>
                <a:sym typeface="Cabin"/>
              </a:rPr>
              <a:t>. Ask students to raise their hand (yes or no) in response to the prompt:</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Can we fully explain what is happening at Afar, or do we need more information/data?</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Establish agreement that because the Afar events didn’t happen at a plate boundary, something must be going on there that is different from what we think is happening for most earthquakes, or for the volcanic eruption in the Electronic Exit Ticket, which did occur near a plate boundary. We need some additional data/information to figure out the case sites that appear to be exceptions.</a:t>
            </a:r>
            <a:endParaRPr i="1">
              <a:solidFill>
                <a:schemeClr val="dk1"/>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2"/>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2"/>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2"/>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3"/>
          <p:cNvSpPr txBox="1"/>
          <p:nvPr>
            <p:ph type="ctrTitle"/>
          </p:nvPr>
        </p:nvSpPr>
        <p:spPr>
          <a:xfrm>
            <a:off x="415611" y="992767"/>
            <a:ext cx="113608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3"/>
          <p:cNvSpPr txBox="1"/>
          <p:nvPr>
            <p:ph idx="1" type="subTitle"/>
          </p:nvPr>
        </p:nvSpPr>
        <p:spPr>
          <a:xfrm>
            <a:off x="415600" y="3778833"/>
            <a:ext cx="113608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3"/>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415600" y="2867800"/>
            <a:ext cx="113608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600" y="740800"/>
            <a:ext cx="3744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415600" y="1852800"/>
            <a:ext cx="3744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667" y="600200"/>
            <a:ext cx="84904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354000" y="3737433"/>
            <a:ext cx="53936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6586000" y="965433"/>
            <a:ext cx="5116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600" y="5640767"/>
            <a:ext cx="79984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600" y="1474833"/>
            <a:ext cx="113608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415600" y="4202967"/>
            <a:ext cx="113608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0" name="Shape 50"/>
        <p:cNvGrpSpPr/>
        <p:nvPr/>
      </p:nvGrpSpPr>
      <p:grpSpPr>
        <a:xfrm>
          <a:off x="0" y="0"/>
          <a:ext cx="0" cy="0"/>
          <a:chOff x="0" y="0"/>
          <a:chExt cx="0" cy="0"/>
        </a:xfrm>
      </p:grpSpPr>
      <p:sp>
        <p:nvSpPr>
          <p:cNvPr id="51" name="Google Shape;51;p13"/>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p13"/>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3" name="Google Shape;53;p13"/>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4" name="Google Shape;54;p13"/>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55" name="Shape 55"/>
        <p:cNvGrpSpPr/>
        <p:nvPr/>
      </p:nvGrpSpPr>
      <p:grpSpPr>
        <a:xfrm>
          <a:off x="0" y="0"/>
          <a:ext cx="0" cy="0"/>
          <a:chOff x="0" y="0"/>
          <a:chExt cx="0" cy="0"/>
        </a:xfrm>
      </p:grpSpPr>
      <p:sp>
        <p:nvSpPr>
          <p:cNvPr id="56" name="Google Shape;56;p14"/>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7" name="Google Shape;57;p14"/>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8" name="Google Shape;58;p14"/>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9" name="Google Shape;59;p14"/>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60" name="Shape 60"/>
        <p:cNvGrpSpPr/>
        <p:nvPr/>
      </p:nvGrpSpPr>
      <p:grpSpPr>
        <a:xfrm>
          <a:off x="0" y="0"/>
          <a:ext cx="0" cy="0"/>
          <a:chOff x="0" y="0"/>
          <a:chExt cx="0" cy="0"/>
        </a:xfrm>
      </p:grpSpPr>
      <p:sp>
        <p:nvSpPr>
          <p:cNvPr id="61" name="Google Shape;61;p15"/>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2" name="Google Shape;62;p15"/>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3" name="Google Shape;63;p15"/>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4" name="Google Shape;64;p15"/>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TITLE_AND_BODY_1_1">
    <p:spTree>
      <p:nvGrpSpPr>
        <p:cNvPr id="65" name="Shape 65"/>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66" name="Shape 66"/>
        <p:cNvGrpSpPr/>
        <p:nvPr/>
      </p:nvGrpSpPr>
      <p:grpSpPr>
        <a:xfrm>
          <a:off x="0" y="0"/>
          <a:ext cx="0" cy="0"/>
          <a:chOff x="0" y="0"/>
          <a:chExt cx="0" cy="0"/>
        </a:xfrm>
      </p:grpSpPr>
      <p:sp>
        <p:nvSpPr>
          <p:cNvPr id="67" name="Google Shape;67;p17"/>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17"/>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9" name="Google Shape;69;p17"/>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0" name="Google Shape;70;p17"/>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1">
  <p:cSld name="TITLE_AND_BODY_1_2">
    <p:spTree>
      <p:nvGrpSpPr>
        <p:cNvPr id="71" name="Shape 71"/>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76" name="Shape 76"/>
        <p:cNvGrpSpPr/>
        <p:nvPr/>
      </p:nvGrpSpPr>
      <p:grpSpPr>
        <a:xfrm>
          <a:off x="0" y="0"/>
          <a:ext cx="0" cy="0"/>
          <a:chOff x="0" y="0"/>
          <a:chExt cx="0" cy="0"/>
        </a:xfrm>
      </p:grpSpPr>
      <p:sp>
        <p:nvSpPr>
          <p:cNvPr id="77" name="Google Shape;77;p20"/>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8" name="Google Shape;78;p20"/>
          <p:cNvSpPr txBox="1"/>
          <p:nvPr>
            <p:ph type="title"/>
          </p:nvPr>
        </p:nvSpPr>
        <p:spPr>
          <a:xfrm>
            <a:off x="609600" y="548650"/>
            <a:ext cx="109728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79" name="Google Shape;79;p20"/>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0" name="Google Shape;80;p20"/>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1" name="Shape 81"/>
        <p:cNvGrpSpPr/>
        <p:nvPr/>
      </p:nvGrpSpPr>
      <p:grpSpPr>
        <a:xfrm>
          <a:off x="0" y="0"/>
          <a:ext cx="0" cy="0"/>
          <a:chOff x="0" y="0"/>
          <a:chExt cx="0" cy="0"/>
        </a:xfrm>
      </p:grpSpPr>
      <p:sp>
        <p:nvSpPr>
          <p:cNvPr id="82" name="Google Shape;82;p21"/>
          <p:cNvSpPr txBox="1"/>
          <p:nvPr>
            <p:ph type="ctrTitle"/>
          </p:nvPr>
        </p:nvSpPr>
        <p:spPr>
          <a:xfrm>
            <a:off x="415611" y="992767"/>
            <a:ext cx="113608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3" name="Google Shape;83;p21"/>
          <p:cNvSpPr txBox="1"/>
          <p:nvPr>
            <p:ph idx="1" type="subTitle"/>
          </p:nvPr>
        </p:nvSpPr>
        <p:spPr>
          <a:xfrm>
            <a:off x="415600" y="3778833"/>
            <a:ext cx="113608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4" name="Google Shape;84;p21"/>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5" name="Shape 85"/>
        <p:cNvGrpSpPr/>
        <p:nvPr/>
      </p:nvGrpSpPr>
      <p:grpSpPr>
        <a:xfrm>
          <a:off x="0" y="0"/>
          <a:ext cx="0" cy="0"/>
          <a:chOff x="0" y="0"/>
          <a:chExt cx="0" cy="0"/>
        </a:xfrm>
      </p:grpSpPr>
      <p:sp>
        <p:nvSpPr>
          <p:cNvPr id="86" name="Google Shape;86;p22"/>
          <p:cNvSpPr txBox="1"/>
          <p:nvPr>
            <p:ph type="title"/>
          </p:nvPr>
        </p:nvSpPr>
        <p:spPr>
          <a:xfrm>
            <a:off x="415600" y="2867800"/>
            <a:ext cx="113608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7" name="Google Shape;87;p22"/>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 name="Shape 88"/>
        <p:cNvGrpSpPr/>
        <p:nvPr/>
      </p:nvGrpSpPr>
      <p:grpSpPr>
        <a:xfrm>
          <a:off x="0" y="0"/>
          <a:ext cx="0" cy="0"/>
          <a:chOff x="0" y="0"/>
          <a:chExt cx="0" cy="0"/>
        </a:xfrm>
      </p:grpSpPr>
      <p:sp>
        <p:nvSpPr>
          <p:cNvPr id="89" name="Google Shape;89;p23"/>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23"/>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1" name="Google Shape;91;p23"/>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 name="Shape 92"/>
        <p:cNvGrpSpPr/>
        <p:nvPr/>
      </p:nvGrpSpPr>
      <p:grpSpPr>
        <a:xfrm>
          <a:off x="0" y="0"/>
          <a:ext cx="0" cy="0"/>
          <a:chOff x="0" y="0"/>
          <a:chExt cx="0" cy="0"/>
        </a:xfrm>
      </p:grpSpPr>
      <p:sp>
        <p:nvSpPr>
          <p:cNvPr id="93" name="Google Shape;93;p24"/>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4" name="Google Shape;94;p24"/>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24"/>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24"/>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 name="Shape 97"/>
        <p:cNvGrpSpPr/>
        <p:nvPr/>
      </p:nvGrpSpPr>
      <p:grpSpPr>
        <a:xfrm>
          <a:off x="0" y="0"/>
          <a:ext cx="0" cy="0"/>
          <a:chOff x="0" y="0"/>
          <a:chExt cx="0" cy="0"/>
        </a:xfrm>
      </p:grpSpPr>
      <p:sp>
        <p:nvSpPr>
          <p:cNvPr id="98" name="Google Shape;98;p25"/>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9" name="Google Shape;99;p25"/>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0" name="Shape 100"/>
        <p:cNvGrpSpPr/>
        <p:nvPr/>
      </p:nvGrpSpPr>
      <p:grpSpPr>
        <a:xfrm>
          <a:off x="0" y="0"/>
          <a:ext cx="0" cy="0"/>
          <a:chOff x="0" y="0"/>
          <a:chExt cx="0" cy="0"/>
        </a:xfrm>
      </p:grpSpPr>
      <p:sp>
        <p:nvSpPr>
          <p:cNvPr id="101" name="Google Shape;101;p26"/>
          <p:cNvSpPr txBox="1"/>
          <p:nvPr>
            <p:ph type="title"/>
          </p:nvPr>
        </p:nvSpPr>
        <p:spPr>
          <a:xfrm>
            <a:off x="415600" y="740800"/>
            <a:ext cx="3744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2" name="Google Shape;102;p26"/>
          <p:cNvSpPr txBox="1"/>
          <p:nvPr>
            <p:ph idx="1" type="body"/>
          </p:nvPr>
        </p:nvSpPr>
        <p:spPr>
          <a:xfrm>
            <a:off x="415600" y="1852800"/>
            <a:ext cx="3744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3" name="Google Shape;103;p26"/>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4" name="Shape 104"/>
        <p:cNvGrpSpPr/>
        <p:nvPr/>
      </p:nvGrpSpPr>
      <p:grpSpPr>
        <a:xfrm>
          <a:off x="0" y="0"/>
          <a:ext cx="0" cy="0"/>
          <a:chOff x="0" y="0"/>
          <a:chExt cx="0" cy="0"/>
        </a:xfrm>
      </p:grpSpPr>
      <p:sp>
        <p:nvSpPr>
          <p:cNvPr id="105" name="Google Shape;105;p27"/>
          <p:cNvSpPr txBox="1"/>
          <p:nvPr>
            <p:ph type="title"/>
          </p:nvPr>
        </p:nvSpPr>
        <p:spPr>
          <a:xfrm>
            <a:off x="653667" y="600200"/>
            <a:ext cx="84904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6" name="Google Shape;106;p27"/>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7" name="Shape 107"/>
        <p:cNvGrpSpPr/>
        <p:nvPr/>
      </p:nvGrpSpPr>
      <p:grpSpPr>
        <a:xfrm>
          <a:off x="0" y="0"/>
          <a:ext cx="0" cy="0"/>
          <a:chOff x="0" y="0"/>
          <a:chExt cx="0" cy="0"/>
        </a:xfrm>
      </p:grpSpPr>
      <p:sp>
        <p:nvSpPr>
          <p:cNvPr id="108" name="Google Shape;108;p28"/>
          <p:cNvSpPr/>
          <p:nvPr/>
        </p:nvSpPr>
        <p:spPr>
          <a:xfrm>
            <a:off x="6096000" y="-167"/>
            <a:ext cx="6096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8"/>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0" name="Google Shape;110;p28"/>
          <p:cNvSpPr txBox="1"/>
          <p:nvPr>
            <p:ph idx="1" type="subTitle"/>
          </p:nvPr>
        </p:nvSpPr>
        <p:spPr>
          <a:xfrm>
            <a:off x="354000" y="3737433"/>
            <a:ext cx="53936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1" name="Google Shape;111;p28"/>
          <p:cNvSpPr txBox="1"/>
          <p:nvPr>
            <p:ph idx="2" type="body"/>
          </p:nvPr>
        </p:nvSpPr>
        <p:spPr>
          <a:xfrm>
            <a:off x="6586000" y="965433"/>
            <a:ext cx="5116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2" name="Google Shape;112;p28"/>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3" name="Shape 113"/>
        <p:cNvGrpSpPr/>
        <p:nvPr/>
      </p:nvGrpSpPr>
      <p:grpSpPr>
        <a:xfrm>
          <a:off x="0" y="0"/>
          <a:ext cx="0" cy="0"/>
          <a:chOff x="0" y="0"/>
          <a:chExt cx="0" cy="0"/>
        </a:xfrm>
      </p:grpSpPr>
      <p:sp>
        <p:nvSpPr>
          <p:cNvPr id="114" name="Google Shape;114;p29"/>
          <p:cNvSpPr txBox="1"/>
          <p:nvPr>
            <p:ph idx="1" type="body"/>
          </p:nvPr>
        </p:nvSpPr>
        <p:spPr>
          <a:xfrm>
            <a:off x="415600" y="5640767"/>
            <a:ext cx="79984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15" name="Google Shape;115;p29"/>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sp>
        <p:nvSpPr>
          <p:cNvPr id="117" name="Google Shape;117;p30"/>
          <p:cNvSpPr txBox="1"/>
          <p:nvPr>
            <p:ph hasCustomPrompt="1" type="title"/>
          </p:nvPr>
        </p:nvSpPr>
        <p:spPr>
          <a:xfrm>
            <a:off x="415600" y="1474833"/>
            <a:ext cx="113608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8" name="Google Shape;118;p30"/>
          <p:cNvSpPr txBox="1"/>
          <p:nvPr>
            <p:ph idx="1" type="body"/>
          </p:nvPr>
        </p:nvSpPr>
        <p:spPr>
          <a:xfrm>
            <a:off x="415600" y="4202967"/>
            <a:ext cx="113608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19" name="Google Shape;119;p30"/>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0" name="Shape 120"/>
        <p:cNvGrpSpPr/>
        <p:nvPr/>
      </p:nvGrpSpPr>
      <p:grpSpPr>
        <a:xfrm>
          <a:off x="0" y="0"/>
          <a:ext cx="0" cy="0"/>
          <a:chOff x="0" y="0"/>
          <a:chExt cx="0" cy="0"/>
        </a:xfrm>
      </p:grpSpPr>
      <p:sp>
        <p:nvSpPr>
          <p:cNvPr id="121" name="Google Shape;121;p31"/>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1pPr>
            <a:lvl2pPr indent="0" lvl="1"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2pPr>
            <a:lvl3pPr indent="0" lvl="2"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3pPr>
            <a:lvl4pPr indent="0" lvl="3"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4pPr>
            <a:lvl5pPr indent="0" lvl="4"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5pPr>
            <a:lvl6pPr indent="0" lvl="5"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6pPr>
            <a:lvl7pPr indent="0" lvl="6"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7pPr>
            <a:lvl8pPr indent="0" lvl="7"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8pPr>
            <a:lvl9pPr indent="0" lvl="8" marL="0" algn="r">
              <a:lnSpc>
                <a:spcPct val="100000"/>
              </a:lnSpc>
              <a:spcBef>
                <a:spcPts val="0"/>
              </a:spcBef>
              <a:spcAft>
                <a:spcPts val="0"/>
              </a:spcAft>
              <a:buSzPts val="1000"/>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TITLE_AND_BODY_1">
    <p:spTree>
      <p:nvGrpSpPr>
        <p:cNvPr id="122" name="Shape 122"/>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7">
    <p:spTree>
      <p:nvGrpSpPr>
        <p:cNvPr id="123" name="Shape 123"/>
        <p:cNvGrpSpPr/>
        <p:nvPr/>
      </p:nvGrpSpPr>
      <p:grpSpPr>
        <a:xfrm>
          <a:off x="0" y="0"/>
          <a:ext cx="0" cy="0"/>
          <a:chOff x="0" y="0"/>
          <a:chExt cx="0" cy="0"/>
        </a:xfrm>
      </p:grpSpPr>
      <p:sp>
        <p:nvSpPr>
          <p:cNvPr id="124" name="Google Shape;124;p33"/>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5" name="Google Shape;125;p33"/>
          <p:cNvSpPr txBox="1"/>
          <p:nvPr>
            <p:ph type="title"/>
          </p:nvPr>
        </p:nvSpPr>
        <p:spPr>
          <a:xfrm>
            <a:off x="609600" y="548650"/>
            <a:ext cx="109728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26" name="Google Shape;126;p33"/>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27" name="Google Shape;127;p33"/>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4">
    <p:spTree>
      <p:nvGrpSpPr>
        <p:cNvPr id="128" name="Shape 128"/>
        <p:cNvGrpSpPr/>
        <p:nvPr/>
      </p:nvGrpSpPr>
      <p:grpSpPr>
        <a:xfrm>
          <a:off x="0" y="0"/>
          <a:ext cx="0" cy="0"/>
          <a:chOff x="0" y="0"/>
          <a:chExt cx="0" cy="0"/>
        </a:xfrm>
      </p:grpSpPr>
      <p:sp>
        <p:nvSpPr>
          <p:cNvPr id="129" name="Google Shape;129;p34"/>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30" name="Google Shape;130;p34"/>
          <p:cNvSpPr txBox="1"/>
          <p:nvPr>
            <p:ph type="title"/>
          </p:nvPr>
        </p:nvSpPr>
        <p:spPr>
          <a:xfrm>
            <a:off x="609600" y="548650"/>
            <a:ext cx="109728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31" name="Google Shape;131;p34"/>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2" name="Google Shape;132;p34"/>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7">
    <p:spTree>
      <p:nvGrpSpPr>
        <p:cNvPr id="135" name="Shape 135"/>
        <p:cNvGrpSpPr/>
        <p:nvPr/>
      </p:nvGrpSpPr>
      <p:grpSpPr>
        <a:xfrm>
          <a:off x="0" y="0"/>
          <a:ext cx="0" cy="0"/>
          <a:chOff x="0" y="0"/>
          <a:chExt cx="0" cy="0"/>
        </a:xfrm>
      </p:grpSpPr>
      <p:sp>
        <p:nvSpPr>
          <p:cNvPr id="136" name="Google Shape;136;p36"/>
          <p:cNvSpPr txBox="1"/>
          <p:nvPr>
            <p:ph type="title"/>
          </p:nvPr>
        </p:nvSpPr>
        <p:spPr>
          <a:xfrm>
            <a:off x="415600" y="593367"/>
            <a:ext cx="11360800" cy="7635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137" name="Google Shape;137;p36"/>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38" name="Google Shape;138;p36"/>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TITLE_AND_BODY_1">
    <p:spTree>
      <p:nvGrpSpPr>
        <p:cNvPr id="139" name="Shape 139"/>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0" name="Shape 140"/>
        <p:cNvGrpSpPr/>
        <p:nvPr/>
      </p:nvGrpSpPr>
      <p:grpSpPr>
        <a:xfrm>
          <a:off x="0" y="0"/>
          <a:ext cx="0" cy="0"/>
          <a:chOff x="0" y="0"/>
          <a:chExt cx="0" cy="0"/>
        </a:xfrm>
      </p:grpSpPr>
      <p:sp>
        <p:nvSpPr>
          <p:cNvPr id="141" name="Google Shape;141;p38"/>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42" name="Google Shape;142;p38"/>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43" name="Google Shape;143;p38"/>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44" name="Google Shape;144;p38"/>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b="0"/>
            </a:lvl2pPr>
            <a:lvl3pPr lvl="2" algn="r">
              <a:lnSpc>
                <a:spcPct val="115000"/>
              </a:lnSpc>
              <a:spcBef>
                <a:spcPts val="1600"/>
              </a:spcBef>
              <a:spcAft>
                <a:spcPts val="0"/>
              </a:spcAft>
              <a:buSzPts val="2400"/>
              <a:buNone/>
              <a:defRPr b="0"/>
            </a:lvl3pPr>
            <a:lvl4pPr lvl="3" algn="r">
              <a:lnSpc>
                <a:spcPct val="115000"/>
              </a:lnSpc>
              <a:spcBef>
                <a:spcPts val="1600"/>
              </a:spcBef>
              <a:spcAft>
                <a:spcPts val="0"/>
              </a:spcAft>
              <a:buSzPts val="2400"/>
              <a:buNone/>
              <a:defRPr b="0"/>
            </a:lvl4pPr>
            <a:lvl5pPr lvl="4" algn="r">
              <a:lnSpc>
                <a:spcPct val="115000"/>
              </a:lnSpc>
              <a:spcBef>
                <a:spcPts val="1600"/>
              </a:spcBef>
              <a:spcAft>
                <a:spcPts val="0"/>
              </a:spcAft>
              <a:buSzPts val="1800"/>
              <a:buNone/>
              <a:defRPr b="0"/>
            </a:lvl5pPr>
            <a:lvl6pPr lvl="5" algn="r">
              <a:lnSpc>
                <a:spcPct val="115000"/>
              </a:lnSpc>
              <a:spcBef>
                <a:spcPts val="1600"/>
              </a:spcBef>
              <a:spcAft>
                <a:spcPts val="0"/>
              </a:spcAft>
              <a:buSzPts val="1400"/>
              <a:buNone/>
              <a:defRPr b="0"/>
            </a:lvl6pPr>
            <a:lvl7pPr lvl="6" algn="r">
              <a:lnSpc>
                <a:spcPct val="115000"/>
              </a:lnSpc>
              <a:spcBef>
                <a:spcPts val="1600"/>
              </a:spcBef>
              <a:spcAft>
                <a:spcPts val="0"/>
              </a:spcAft>
              <a:buSzPts val="1400"/>
              <a:buNone/>
              <a:defRPr b="0"/>
            </a:lvl7pPr>
            <a:lvl8pPr lvl="7" algn="r">
              <a:lnSpc>
                <a:spcPct val="115000"/>
              </a:lnSpc>
              <a:spcBef>
                <a:spcPts val="1600"/>
              </a:spcBef>
              <a:spcAft>
                <a:spcPts val="0"/>
              </a:spcAft>
              <a:buSzPts val="1400"/>
              <a:buNone/>
              <a:defRPr b="0"/>
            </a:lvl8pPr>
            <a:lvl9pPr lvl="8" algn="r">
              <a:lnSpc>
                <a:spcPct val="115000"/>
              </a:lnSpc>
              <a:spcBef>
                <a:spcPts val="1600"/>
              </a:spcBef>
              <a:spcAft>
                <a:spcPts val="1600"/>
              </a:spcAft>
              <a:buSzPts val="1400"/>
              <a:buNone/>
              <a:defRPr b="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5" name="Shape 145"/>
        <p:cNvGrpSpPr/>
        <p:nvPr/>
      </p:nvGrpSpPr>
      <p:grpSpPr>
        <a:xfrm>
          <a:off x="0" y="0"/>
          <a:ext cx="0" cy="0"/>
          <a:chOff x="0" y="0"/>
          <a:chExt cx="0" cy="0"/>
        </a:xfrm>
      </p:grpSpPr>
      <p:sp>
        <p:nvSpPr>
          <p:cNvPr id="146" name="Google Shape;146;p39"/>
          <p:cNvSpPr txBox="1"/>
          <p:nvPr>
            <p:ph type="ctrTitle"/>
          </p:nvPr>
        </p:nvSpPr>
        <p:spPr>
          <a:xfrm>
            <a:off x="609600" y="992775"/>
            <a:ext cx="109728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47" name="Google Shape;147;p39"/>
          <p:cNvSpPr txBox="1"/>
          <p:nvPr>
            <p:ph idx="1" type="subTitle"/>
          </p:nvPr>
        </p:nvSpPr>
        <p:spPr>
          <a:xfrm>
            <a:off x="609600" y="3778825"/>
            <a:ext cx="109728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8" name="Google Shape;148;p39"/>
          <p:cNvSpPr txBox="1"/>
          <p:nvPr>
            <p:ph idx="2"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49" name="Google Shape;149;p39"/>
          <p:cNvSpPr txBox="1"/>
          <p:nvPr>
            <p:ph idx="3" type="subTitle"/>
          </p:nvPr>
        </p:nvSpPr>
        <p:spPr>
          <a:xfrm>
            <a:off x="609600" y="106750"/>
            <a:ext cx="5431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50" name="Google Shape;150;p39"/>
          <p:cNvSpPr txBox="1"/>
          <p:nvPr>
            <p:ph idx="4" type="subTitle"/>
          </p:nvPr>
        </p:nvSpPr>
        <p:spPr>
          <a:xfrm>
            <a:off x="6819067" y="106750"/>
            <a:ext cx="4763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p40"/>
          <p:cNvSpPr txBox="1"/>
          <p:nvPr>
            <p:ph type="title"/>
          </p:nvPr>
        </p:nvSpPr>
        <p:spPr>
          <a:xfrm>
            <a:off x="609600" y="2867800"/>
            <a:ext cx="109728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Cabin"/>
              <a:buChar char="●"/>
              <a:defRPr b="0" i="0" sz="3600" u="none" cap="none" strike="noStrike">
                <a:solidFill>
                  <a:srgbClr val="304852"/>
                </a:solidFill>
                <a:latin typeface="Cabin"/>
                <a:ea typeface="Cabin"/>
                <a:cs typeface="Cabin"/>
                <a:sym typeface="Cabin"/>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153" name="Google Shape;153;p40"/>
          <p:cNvSpPr txBox="1"/>
          <p:nvPr>
            <p:ph idx="2"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54" name="Google Shape;154;p40"/>
          <p:cNvSpPr txBox="1"/>
          <p:nvPr>
            <p:ph idx="1" type="subTitle"/>
          </p:nvPr>
        </p:nvSpPr>
        <p:spPr>
          <a:xfrm>
            <a:off x="609600" y="106750"/>
            <a:ext cx="58256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55" name="Google Shape;155;p40"/>
          <p:cNvSpPr txBox="1"/>
          <p:nvPr>
            <p:ph idx="3" type="subTitle"/>
          </p:nvPr>
        </p:nvSpPr>
        <p:spPr>
          <a:xfrm>
            <a:off x="6237833" y="106750"/>
            <a:ext cx="5344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6" name="Shape 156"/>
        <p:cNvGrpSpPr/>
        <p:nvPr/>
      </p:nvGrpSpPr>
      <p:grpSpPr>
        <a:xfrm>
          <a:off x="0" y="0"/>
          <a:ext cx="0" cy="0"/>
          <a:chOff x="0" y="0"/>
          <a:chExt cx="0" cy="0"/>
        </a:xfrm>
      </p:grpSpPr>
      <p:sp>
        <p:nvSpPr>
          <p:cNvPr id="157" name="Google Shape;157;p41"/>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158" name="Google Shape;158;p41"/>
          <p:cNvSpPr txBox="1"/>
          <p:nvPr>
            <p:ph idx="1" type="subTitle"/>
          </p:nvPr>
        </p:nvSpPr>
        <p:spPr>
          <a:xfrm>
            <a:off x="609600" y="106750"/>
            <a:ext cx="5836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59" name="Google Shape;159;p41"/>
          <p:cNvSpPr txBox="1"/>
          <p:nvPr>
            <p:ph idx="2" type="subTitle"/>
          </p:nvPr>
        </p:nvSpPr>
        <p:spPr>
          <a:xfrm>
            <a:off x="6502533" y="106750"/>
            <a:ext cx="508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sz="1500"/>
            </a:lvl2pPr>
            <a:lvl3pPr lvl="2" algn="r">
              <a:lnSpc>
                <a:spcPct val="115000"/>
              </a:lnSpc>
              <a:spcBef>
                <a:spcPts val="1600"/>
              </a:spcBef>
              <a:spcAft>
                <a:spcPts val="0"/>
              </a:spcAft>
              <a:buSzPts val="2400"/>
              <a:buNone/>
              <a:defRPr sz="1500"/>
            </a:lvl3pPr>
            <a:lvl4pPr lvl="3" algn="r">
              <a:lnSpc>
                <a:spcPct val="115000"/>
              </a:lnSpc>
              <a:spcBef>
                <a:spcPts val="1600"/>
              </a:spcBef>
              <a:spcAft>
                <a:spcPts val="0"/>
              </a:spcAft>
              <a:buSzPts val="2400"/>
              <a:buNone/>
              <a:defRPr sz="1500"/>
            </a:lvl4pPr>
            <a:lvl5pPr lvl="4" algn="r">
              <a:lnSpc>
                <a:spcPct val="115000"/>
              </a:lnSpc>
              <a:spcBef>
                <a:spcPts val="1600"/>
              </a:spcBef>
              <a:spcAft>
                <a:spcPts val="0"/>
              </a:spcAft>
              <a:buSzPts val="1800"/>
              <a:buNone/>
              <a:defRPr sz="1500"/>
            </a:lvl5pPr>
            <a:lvl6pPr lvl="5" algn="r">
              <a:lnSpc>
                <a:spcPct val="115000"/>
              </a:lnSpc>
              <a:spcBef>
                <a:spcPts val="1600"/>
              </a:spcBef>
              <a:spcAft>
                <a:spcPts val="0"/>
              </a:spcAft>
              <a:buSzPts val="1400"/>
              <a:buNone/>
              <a:defRPr sz="1500"/>
            </a:lvl6pPr>
            <a:lvl7pPr lvl="6" algn="r">
              <a:lnSpc>
                <a:spcPct val="115000"/>
              </a:lnSpc>
              <a:spcBef>
                <a:spcPts val="1600"/>
              </a:spcBef>
              <a:spcAft>
                <a:spcPts val="0"/>
              </a:spcAft>
              <a:buSzPts val="1400"/>
              <a:buNone/>
              <a:defRPr sz="1500"/>
            </a:lvl7pPr>
            <a:lvl8pPr lvl="7" algn="r">
              <a:lnSpc>
                <a:spcPct val="115000"/>
              </a:lnSpc>
              <a:spcBef>
                <a:spcPts val="1600"/>
              </a:spcBef>
              <a:spcAft>
                <a:spcPts val="0"/>
              </a:spcAft>
              <a:buSzPts val="1400"/>
              <a:buNone/>
              <a:defRPr sz="1500"/>
            </a:lvl8pPr>
            <a:lvl9pPr lvl="8" algn="r">
              <a:lnSpc>
                <a:spcPct val="115000"/>
              </a:lnSpc>
              <a:spcBef>
                <a:spcPts val="1600"/>
              </a:spcBef>
              <a:spcAft>
                <a:spcPts val="1600"/>
              </a:spcAft>
              <a:buSzPts val="1400"/>
              <a:buNone/>
              <a:defRPr sz="15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0" name="Shape 160"/>
        <p:cNvGrpSpPr/>
        <p:nvPr/>
      </p:nvGrpSpPr>
      <p:grpSpPr>
        <a:xfrm>
          <a:off x="0" y="0"/>
          <a:ext cx="0" cy="0"/>
          <a:chOff x="0" y="0"/>
          <a:chExt cx="0" cy="0"/>
        </a:xfrm>
      </p:grpSpPr>
      <p:sp>
        <p:nvSpPr>
          <p:cNvPr id="161" name="Google Shape;161;p42"/>
          <p:cNvSpPr txBox="1"/>
          <p:nvPr>
            <p:ph type="title"/>
          </p:nvPr>
        </p:nvSpPr>
        <p:spPr>
          <a:xfrm>
            <a:off x="609600" y="1644225"/>
            <a:ext cx="51380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162" name="Google Shape;162;p42"/>
          <p:cNvSpPr txBox="1"/>
          <p:nvPr>
            <p:ph idx="1" type="subTitle"/>
          </p:nvPr>
        </p:nvSpPr>
        <p:spPr>
          <a:xfrm>
            <a:off x="609700" y="3737425"/>
            <a:ext cx="51380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Cabin"/>
              <a:buNone/>
              <a:defRPr sz="1800">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3" name="Google Shape;163;p42"/>
          <p:cNvSpPr txBox="1"/>
          <p:nvPr>
            <p:ph idx="2"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64" name="Google Shape;164;p42"/>
          <p:cNvSpPr txBox="1"/>
          <p:nvPr>
            <p:ph idx="3" type="subTitle"/>
          </p:nvPr>
        </p:nvSpPr>
        <p:spPr>
          <a:xfrm>
            <a:off x="609600" y="106750"/>
            <a:ext cx="5644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65" name="Google Shape;165;p42"/>
          <p:cNvSpPr txBox="1"/>
          <p:nvPr>
            <p:ph idx="4" type="subTitle"/>
          </p:nvPr>
        </p:nvSpPr>
        <p:spPr>
          <a:xfrm>
            <a:off x="6254000" y="106750"/>
            <a:ext cx="5328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166" name="Google Shape;166;p42"/>
          <p:cNvSpPr txBox="1"/>
          <p:nvPr>
            <p:ph idx="5" type="body"/>
          </p:nvPr>
        </p:nvSpPr>
        <p:spPr>
          <a:xfrm>
            <a:off x="6082533" y="1574475"/>
            <a:ext cx="5500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167" name="Shape 167"/>
        <p:cNvGrpSpPr/>
        <p:nvPr/>
      </p:nvGrpSpPr>
      <p:grpSpPr>
        <a:xfrm>
          <a:off x="0" y="0"/>
          <a:ext cx="0" cy="0"/>
          <a:chOff x="0" y="0"/>
          <a:chExt cx="0" cy="0"/>
        </a:xfrm>
      </p:grpSpPr>
      <p:sp>
        <p:nvSpPr>
          <p:cNvPr id="168" name="Google Shape;168;p43"/>
          <p:cNvSpPr txBox="1"/>
          <p:nvPr>
            <p:ph type="title"/>
          </p:nvPr>
        </p:nvSpPr>
        <p:spPr>
          <a:xfrm>
            <a:off x="609600" y="1650950"/>
            <a:ext cx="109728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a:buChar char="●"/>
              <a:defRPr b="0" i="0" sz="2400" u="none" cap="none" strike="noStrike">
                <a:solidFill>
                  <a:srgbClr val="304852"/>
                </a:solidFill>
                <a:latin typeface="Cabin"/>
                <a:ea typeface="Cabin"/>
                <a:cs typeface="Cabin"/>
                <a:sym typeface="Cabin"/>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169" name="Google Shape;169;p43"/>
          <p:cNvSpPr txBox="1"/>
          <p:nvPr>
            <p:ph idx="1" type="subTitle"/>
          </p:nvPr>
        </p:nvSpPr>
        <p:spPr>
          <a:xfrm>
            <a:off x="609600" y="3740375"/>
            <a:ext cx="109728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Cabin"/>
              <a:buNone/>
              <a:defRPr sz="1800">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0" name="Google Shape;170;p43"/>
          <p:cNvSpPr txBox="1"/>
          <p:nvPr>
            <p:ph idx="2"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171" name="Google Shape;171;p43"/>
          <p:cNvSpPr txBox="1"/>
          <p:nvPr>
            <p:ph idx="3" type="subTitle"/>
          </p:nvPr>
        </p:nvSpPr>
        <p:spPr>
          <a:xfrm>
            <a:off x="609600" y="106750"/>
            <a:ext cx="51816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72" name="Google Shape;172;p43"/>
          <p:cNvSpPr txBox="1"/>
          <p:nvPr>
            <p:ph idx="4" type="subTitle"/>
          </p:nvPr>
        </p:nvSpPr>
        <p:spPr>
          <a:xfrm>
            <a:off x="6163867" y="106750"/>
            <a:ext cx="5418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sp>
        <p:nvSpPr>
          <p:cNvPr id="174" name="Google Shape;174;p44"/>
          <p:cNvSpPr txBox="1"/>
          <p:nvPr>
            <p:ph idx="1" type="body"/>
          </p:nvPr>
        </p:nvSpPr>
        <p:spPr>
          <a:xfrm>
            <a:off x="609600" y="5640775"/>
            <a:ext cx="78044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Font typeface="Cabin"/>
              <a:buNone/>
              <a:defRPr sz="1800">
                <a:latin typeface="Cabin"/>
                <a:ea typeface="Cabin"/>
                <a:cs typeface="Cabin"/>
                <a:sym typeface="Cabin"/>
              </a:defRPr>
            </a:lvl1pPr>
          </a:lstStyle>
          <a:p/>
        </p:txBody>
      </p:sp>
      <p:sp>
        <p:nvSpPr>
          <p:cNvPr id="175" name="Google Shape;175;p44"/>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76" name="Google Shape;176;p44"/>
          <p:cNvSpPr txBox="1"/>
          <p:nvPr>
            <p:ph idx="2" type="subTitle"/>
          </p:nvPr>
        </p:nvSpPr>
        <p:spPr>
          <a:xfrm>
            <a:off x="609600" y="106750"/>
            <a:ext cx="4685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77" name="Google Shape;177;p44"/>
          <p:cNvSpPr txBox="1"/>
          <p:nvPr>
            <p:ph idx="3" type="subTitle"/>
          </p:nvPr>
        </p:nvSpPr>
        <p:spPr>
          <a:xfrm>
            <a:off x="6186433" y="106750"/>
            <a:ext cx="5396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 name="Shape 178"/>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79" name="Shape 179"/>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180" name="Shape 180"/>
        <p:cNvGrpSpPr/>
        <p:nvPr/>
      </p:nvGrpSpPr>
      <p:grpSpPr>
        <a:xfrm>
          <a:off x="0" y="0"/>
          <a:ext cx="0" cy="0"/>
          <a:chOff x="0" y="0"/>
          <a:chExt cx="0" cy="0"/>
        </a:xfrm>
      </p:grpSpPr>
      <p:sp>
        <p:nvSpPr>
          <p:cNvPr id="181" name="Google Shape;181;p47"/>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82" name="Google Shape;182;p47"/>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83" name="Google Shape;183;p47"/>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4" name="Google Shape;184;p47"/>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185" name="Shape 185"/>
        <p:cNvGrpSpPr/>
        <p:nvPr/>
      </p:nvGrpSpPr>
      <p:grpSpPr>
        <a:xfrm>
          <a:off x="0" y="0"/>
          <a:ext cx="0" cy="0"/>
          <a:chOff x="0" y="0"/>
          <a:chExt cx="0" cy="0"/>
        </a:xfrm>
      </p:grpSpPr>
      <p:sp>
        <p:nvSpPr>
          <p:cNvPr id="186" name="Google Shape;186;p48"/>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87" name="Google Shape;187;p48"/>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88" name="Google Shape;188;p48"/>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9" name="Google Shape;189;p48"/>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1_2">
    <p:spTree>
      <p:nvGrpSpPr>
        <p:cNvPr id="190" name="Shape 190"/>
        <p:cNvGrpSpPr/>
        <p:nvPr/>
      </p:nvGrpSpPr>
      <p:grpSpPr>
        <a:xfrm>
          <a:off x="0" y="0"/>
          <a:ext cx="0" cy="0"/>
          <a:chOff x="0" y="0"/>
          <a:chExt cx="0" cy="0"/>
        </a:xfrm>
      </p:grpSpPr>
      <p:sp>
        <p:nvSpPr>
          <p:cNvPr id="191" name="Google Shape;191;p49"/>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2" name="Google Shape;192;p49"/>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3" name="Google Shape;193;p49"/>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94" name="Google Shape;194;p49"/>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3">
    <p:spTree>
      <p:nvGrpSpPr>
        <p:cNvPr id="195" name="Shape 195"/>
        <p:cNvGrpSpPr/>
        <p:nvPr/>
      </p:nvGrpSpPr>
      <p:grpSpPr>
        <a:xfrm>
          <a:off x="0" y="0"/>
          <a:ext cx="0" cy="0"/>
          <a:chOff x="0" y="0"/>
          <a:chExt cx="0" cy="0"/>
        </a:xfrm>
      </p:grpSpPr>
      <p:sp>
        <p:nvSpPr>
          <p:cNvPr id="196" name="Google Shape;196;p50"/>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7" name="Google Shape;197;p50"/>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8" name="Google Shape;198;p50"/>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99" name="Google Shape;199;p50"/>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4">
    <p:spTree>
      <p:nvGrpSpPr>
        <p:cNvPr id="200" name="Shape 200"/>
        <p:cNvGrpSpPr/>
        <p:nvPr/>
      </p:nvGrpSpPr>
      <p:grpSpPr>
        <a:xfrm>
          <a:off x="0" y="0"/>
          <a:ext cx="0" cy="0"/>
          <a:chOff x="0" y="0"/>
          <a:chExt cx="0" cy="0"/>
        </a:xfrm>
      </p:grpSpPr>
      <p:sp>
        <p:nvSpPr>
          <p:cNvPr id="201" name="Google Shape;201;p51"/>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02" name="Google Shape;202;p51"/>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03" name="Google Shape;203;p51"/>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04" name="Google Shape;204;p51"/>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5">
    <p:spTree>
      <p:nvGrpSpPr>
        <p:cNvPr id="205" name="Shape 205"/>
        <p:cNvGrpSpPr/>
        <p:nvPr/>
      </p:nvGrpSpPr>
      <p:grpSpPr>
        <a:xfrm>
          <a:off x="0" y="0"/>
          <a:ext cx="0" cy="0"/>
          <a:chOff x="0" y="0"/>
          <a:chExt cx="0" cy="0"/>
        </a:xfrm>
      </p:grpSpPr>
      <p:sp>
        <p:nvSpPr>
          <p:cNvPr id="206" name="Google Shape;206;p52"/>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07" name="Google Shape;207;p52"/>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08" name="Google Shape;208;p52"/>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09" name="Google Shape;209;p52"/>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6">
    <p:spTree>
      <p:nvGrpSpPr>
        <p:cNvPr id="210" name="Shape 210"/>
        <p:cNvGrpSpPr/>
        <p:nvPr/>
      </p:nvGrpSpPr>
      <p:grpSpPr>
        <a:xfrm>
          <a:off x="0" y="0"/>
          <a:ext cx="0" cy="0"/>
          <a:chOff x="0" y="0"/>
          <a:chExt cx="0" cy="0"/>
        </a:xfrm>
      </p:grpSpPr>
      <p:sp>
        <p:nvSpPr>
          <p:cNvPr id="211" name="Google Shape;211;p53"/>
          <p:cNvSpPr txBox="1"/>
          <p:nvPr>
            <p:ph idx="1" type="body"/>
          </p:nvPr>
        </p:nvSpPr>
        <p:spPr>
          <a:xfrm>
            <a:off x="609600" y="1536625"/>
            <a:ext cx="109728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12" name="Google Shape;212;p53"/>
          <p:cNvSpPr txBox="1"/>
          <p:nvPr>
            <p:ph type="title"/>
          </p:nvPr>
        </p:nvSpPr>
        <p:spPr>
          <a:xfrm>
            <a:off x="609600" y="548650"/>
            <a:ext cx="10972800" cy="6861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13" name="Google Shape;213;p53"/>
          <p:cNvSpPr txBox="1"/>
          <p:nvPr>
            <p:ph idx="2" type="subTitle"/>
          </p:nvPr>
        </p:nvSpPr>
        <p:spPr>
          <a:xfrm>
            <a:off x="609600" y="106750"/>
            <a:ext cx="388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14" name="Google Shape;214;p53"/>
          <p:cNvSpPr txBox="1"/>
          <p:nvPr>
            <p:ph idx="3" type="subTitle"/>
          </p:nvPr>
        </p:nvSpPr>
        <p:spPr>
          <a:xfrm>
            <a:off x="7693200" y="106750"/>
            <a:ext cx="38892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1">
  <p:cSld name="TITLE_AND_BODY_1_1_1">
    <p:spTree>
      <p:nvGrpSpPr>
        <p:cNvPr id="215" name="Shape 2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3.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6" Type="http://schemas.openxmlformats.org/officeDocument/2006/relationships/theme" Target="../theme/theme4.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slideLayout" Target="../slideLayouts/slideLayout49.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19" Type="http://schemas.openxmlformats.org/officeDocument/2006/relationships/slideLayout" Target="../slideLayouts/slideLayout51.xml"/><Relationship Id="rId6" Type="http://schemas.openxmlformats.org/officeDocument/2006/relationships/slideLayout" Target="../slideLayouts/slideLayout38.xml"/><Relationship Id="rId18" Type="http://schemas.openxmlformats.org/officeDocument/2006/relationships/slideLayout" Target="../slideLayouts/slideLayout50.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3F8FF"/>
            </a:gs>
            <a:gs pos="74000">
              <a:srgbClr val="7030A0"/>
            </a:gs>
            <a:gs pos="83000">
              <a:srgbClr val="7030A0"/>
            </a:gs>
            <a:gs pos="100000">
              <a:srgbClr val="9966FF"/>
            </a:gs>
          </a:gsLst>
          <a:lin ang="5400000"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3F8FF"/>
            </a:gs>
            <a:gs pos="74000">
              <a:srgbClr val="7030A0"/>
            </a:gs>
            <a:gs pos="83000">
              <a:srgbClr val="7030A0"/>
            </a:gs>
            <a:gs pos="100000">
              <a:srgbClr val="9966FF"/>
            </a:gs>
          </a:gsLst>
          <a:lin ang="5400000" scaled="0"/>
        </a:gradFill>
      </p:bgPr>
    </p:bg>
    <p:spTree>
      <p:nvGrpSpPr>
        <p:cNvPr id="72" name="Shape 72"/>
        <p:cNvGrpSpPr/>
        <p:nvPr/>
      </p:nvGrpSpPr>
      <p:grpSpPr>
        <a:xfrm>
          <a:off x="0" y="0"/>
          <a:ext cx="0" cy="0"/>
          <a:chOff x="0" y="0"/>
          <a:chExt cx="0" cy="0"/>
        </a:xfrm>
      </p:grpSpPr>
      <p:sp>
        <p:nvSpPr>
          <p:cNvPr id="73" name="Google Shape;73;p19"/>
          <p:cNvSpPr txBox="1"/>
          <p:nvPr>
            <p:ph type="title"/>
          </p:nvPr>
        </p:nvSpPr>
        <p:spPr>
          <a:xfrm>
            <a:off x="415600" y="593367"/>
            <a:ext cx="113608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4" name="Google Shape;74;p19"/>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5" name="Google Shape;75;p19"/>
          <p:cNvSpPr txBox="1"/>
          <p:nvPr>
            <p:ph idx="12" type="sldNum"/>
          </p:nvPr>
        </p:nvSpPr>
        <p:spPr>
          <a:xfrm>
            <a:off x="11296611" y="6217622"/>
            <a:ext cx="7316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FFAF4"/>
            </a:gs>
            <a:gs pos="74000">
              <a:srgbClr val="7030A0"/>
            </a:gs>
            <a:gs pos="83000">
              <a:srgbClr val="7030A0"/>
            </a:gs>
            <a:gs pos="100000">
              <a:srgbClr val="9966FF"/>
            </a:gs>
          </a:gsLst>
          <a:lin ang="5400000" scaled="0"/>
        </a:gradFill>
      </p:bgPr>
    </p:bg>
    <p:spTree>
      <p:nvGrpSpPr>
        <p:cNvPr id="133" name="Shape 133"/>
        <p:cNvGrpSpPr/>
        <p:nvPr/>
      </p:nvGrpSpPr>
      <p:grpSpPr>
        <a:xfrm>
          <a:off x="0" y="0"/>
          <a:ext cx="0" cy="0"/>
          <a:chOff x="0" y="0"/>
          <a:chExt cx="0" cy="0"/>
        </a:xfrm>
      </p:grpSpPr>
      <p:sp>
        <p:nvSpPr>
          <p:cNvPr id="134" name="Google Shape;134;p35"/>
          <p:cNvSpPr txBox="1"/>
          <p:nvPr>
            <p:ph idx="1" type="body"/>
          </p:nvPr>
        </p:nvSpPr>
        <p:spPr>
          <a:xfrm>
            <a:off x="577767" y="1536625"/>
            <a:ext cx="111988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Cabin"/>
              <a:buChar char="●"/>
              <a:defRPr b="1" i="0" sz="3600" u="none" cap="none" strike="noStrike">
                <a:solidFill>
                  <a:srgbClr val="304852"/>
                </a:solidFill>
                <a:latin typeface="Cabin"/>
                <a:ea typeface="Cabin"/>
                <a:cs typeface="Cabin"/>
                <a:sym typeface="Cabin"/>
              </a:defRPr>
            </a:lvl1pPr>
            <a:lvl2pPr indent="-431800" lvl="1" marL="914400" marR="0" rtl="0" algn="l">
              <a:lnSpc>
                <a:spcPct val="115000"/>
              </a:lnSpc>
              <a:spcBef>
                <a:spcPts val="1600"/>
              </a:spcBef>
              <a:spcAft>
                <a:spcPts val="0"/>
              </a:spcAft>
              <a:buClr>
                <a:srgbClr val="304852"/>
              </a:buClr>
              <a:buSzPts val="3200"/>
              <a:buFont typeface="Cabin"/>
              <a:buChar char="○"/>
              <a:defRPr b="1" i="0" sz="3200" u="none" cap="none" strike="noStrike">
                <a:solidFill>
                  <a:srgbClr val="304852"/>
                </a:solidFill>
                <a:latin typeface="Cabin"/>
                <a:ea typeface="Cabin"/>
                <a:cs typeface="Cabin"/>
                <a:sym typeface="Cabin"/>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a:buChar char="●"/>
              <a:defRPr b="0" i="0" sz="2400" u="none" cap="none" strike="noStrike">
                <a:solidFill>
                  <a:srgbClr val="304852"/>
                </a:solidFill>
                <a:latin typeface="Cabin"/>
                <a:ea typeface="Cabin"/>
                <a:cs typeface="Cabin"/>
                <a:sym typeface="Cabin"/>
              </a:defRPr>
            </a:lvl4pPr>
            <a:lvl5pPr indent="-342900" lvl="4" marL="2286000" marR="0" rtl="0" algn="l">
              <a:lnSpc>
                <a:spcPct val="115000"/>
              </a:lnSpc>
              <a:spcBef>
                <a:spcPts val="1600"/>
              </a:spcBef>
              <a:spcAft>
                <a:spcPts val="0"/>
              </a:spcAft>
              <a:buClr>
                <a:srgbClr val="304852"/>
              </a:buClr>
              <a:buSzPts val="1800"/>
              <a:buFont typeface="Cabin"/>
              <a:buChar char="○"/>
              <a:defRPr b="0" i="0" sz="1800" u="none" cap="none" strike="noStrike">
                <a:solidFill>
                  <a:srgbClr val="304852"/>
                </a:solidFill>
                <a:latin typeface="Cabin"/>
                <a:ea typeface="Cabin"/>
                <a:cs typeface="Cabin"/>
                <a:sym typeface="Cabin"/>
              </a:defRPr>
            </a:lvl5pPr>
            <a:lvl6pPr indent="-317500" lvl="5" marL="27432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6pPr>
            <a:lvl7pPr indent="-317500" lvl="6" marL="32004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7pPr>
            <a:lvl8pPr indent="-317500" lvl="7" marL="3657600" marR="0" rtl="0" algn="l">
              <a:lnSpc>
                <a:spcPct val="115000"/>
              </a:lnSpc>
              <a:spcBef>
                <a:spcPts val="1600"/>
              </a:spcBef>
              <a:spcAft>
                <a:spcPts val="0"/>
              </a:spcAft>
              <a:buClr>
                <a:srgbClr val="304852"/>
              </a:buClr>
              <a:buSzPts val="1400"/>
              <a:buFont typeface="Cabin"/>
              <a:buChar char="○"/>
              <a:defRPr b="0" i="0" sz="1400" u="none" cap="none" strike="noStrike">
                <a:solidFill>
                  <a:srgbClr val="304852"/>
                </a:solidFill>
                <a:latin typeface="Cabin"/>
                <a:ea typeface="Cabin"/>
                <a:cs typeface="Cabin"/>
                <a:sym typeface="Cabin"/>
              </a:defRPr>
            </a:lvl8pPr>
            <a:lvl9pPr indent="-317500" lvl="8" marL="4114800" marR="0" rtl="0" algn="l">
              <a:lnSpc>
                <a:spcPct val="115000"/>
              </a:lnSpc>
              <a:spcBef>
                <a:spcPts val="1600"/>
              </a:spcBef>
              <a:spcAft>
                <a:spcPts val="1600"/>
              </a:spcAft>
              <a:buClr>
                <a:srgbClr val="304852"/>
              </a:buClr>
              <a:buSzPts val="1400"/>
              <a:buFont typeface="Cabin"/>
              <a:buChar char="■"/>
              <a:defRPr b="0" i="0" sz="1400" u="none" cap="none" strike="noStrike">
                <a:solidFill>
                  <a:srgbClr val="30485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youtube.com/watch?v=2LsqbgtgeHY" TargetMode="External"/><Relationship Id="rId4" Type="http://schemas.openxmlformats.org/officeDocument/2006/relationships/hyperlink" Target="https://www.youtube.com/watch?v=fXb02MQ78yQ" TargetMode="External"/><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www.physicsclassroom.com" TargetMode="Externa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drive.google.com/file/d/1t_NucIh8tyD1ydWKHrEcmnCOVasZ-1TN/view?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1.jpg"/><Relationship Id="rId5" Type="http://schemas.openxmlformats.org/officeDocument/2006/relationships/image" Target="../media/image18.png"/><Relationship Id="rId6"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youtube.com/watch?v=uVM4t2QXtLo" TargetMode="External"/><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youtube.com/watch?v=K3m2x6Vtj4I" TargetMode="External"/><Relationship Id="rId4"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jp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jpg"/><Relationship Id="rId4" Type="http://schemas.openxmlformats.org/officeDocument/2006/relationships/image" Target="../media/image8.png"/><Relationship Id="rId5" Type="http://schemas.openxmlformats.org/officeDocument/2006/relationships/hyperlink" Target="https://openscied-static.s3.amazonaws.com/HTML+Files/Apply+and+Remove+External+Force+on+a+Solid.html" TargetMode="External"/><Relationship Id="rId6" Type="http://schemas.openxmlformats.org/officeDocument/2006/relationships/hyperlink" Target="https://openscied-static.s3.amazonaws.com/HTML+Files/Apply+and+Remove+External+Force+on+a+Solid.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31.jpg"/><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 Id="rId3" Type="http://schemas.openxmlformats.org/officeDocument/2006/relationships/hyperlink" Target="https://www.youtube.com/watch?v=dpbv2aOMkw8" TargetMode="External"/><Relationship Id="rId4" Type="http://schemas.openxmlformats.org/officeDocument/2006/relationships/hyperlink" Target="https://docs.google.com/document/d/1oXqWwmoUupyeK6DsHLOQBc5ZTCjj6jEmOypudoEgz8s/edit?usp=sharing" TargetMode="External"/><Relationship Id="rId5"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 Id="rId3"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1.xml"/><Relationship Id="rId3" Type="http://schemas.openxmlformats.org/officeDocument/2006/relationships/image" Target="../media/image8.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55"/>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9/4 </a:t>
            </a:r>
            <a:endParaRPr/>
          </a:p>
        </p:txBody>
      </p:sp>
      <p:sp>
        <p:nvSpPr>
          <p:cNvPr id="221" name="Google Shape;221;p55"/>
          <p:cNvSpPr txBox="1"/>
          <p:nvPr>
            <p:ph idx="1" type="body"/>
          </p:nvPr>
        </p:nvSpPr>
        <p:spPr>
          <a:xfrm>
            <a:off x="415600" y="1536625"/>
            <a:ext cx="6278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FFFAF4"/>
                </a:solidFill>
              </a:rPr>
              <a:t>Park phones </a:t>
            </a:r>
            <a:endParaRPr sz="2500">
              <a:solidFill>
                <a:srgbClr val="FFFAF4"/>
              </a:solidFill>
            </a:endParaRPr>
          </a:p>
          <a:p>
            <a:pPr indent="0" lvl="0" marL="0" rtl="0" algn="l">
              <a:spcBef>
                <a:spcPts val="0"/>
              </a:spcBef>
              <a:spcAft>
                <a:spcPts val="0"/>
              </a:spcAft>
              <a:buNone/>
            </a:pPr>
            <a:r>
              <a:t/>
            </a:r>
            <a:endParaRPr sz="2500">
              <a:solidFill>
                <a:srgbClr val="FFFAF4"/>
              </a:solidFill>
            </a:endParaRPr>
          </a:p>
          <a:p>
            <a:pPr indent="0" lvl="0" marL="0" rtl="0" algn="l">
              <a:spcBef>
                <a:spcPts val="0"/>
              </a:spcBef>
              <a:spcAft>
                <a:spcPts val="0"/>
              </a:spcAft>
              <a:buNone/>
            </a:pPr>
            <a:r>
              <a:rPr lang="en" sz="2500">
                <a:solidFill>
                  <a:srgbClr val="FFFAF4"/>
                </a:solidFill>
              </a:rPr>
              <a:t>Get out your L3 notes from last class</a:t>
            </a:r>
            <a:endParaRPr sz="2500">
              <a:solidFill>
                <a:srgbClr val="FFFAF4"/>
              </a:solidFill>
            </a:endParaRPr>
          </a:p>
          <a:p>
            <a:pPr indent="0" lvl="0" marL="0" rtl="0" algn="l">
              <a:spcBef>
                <a:spcPts val="0"/>
              </a:spcBef>
              <a:spcAft>
                <a:spcPts val="0"/>
              </a:spcAft>
              <a:buNone/>
            </a:pPr>
            <a:r>
              <a:t/>
            </a:r>
            <a:endParaRPr sz="2500">
              <a:solidFill>
                <a:srgbClr val="FFFAF4"/>
              </a:solidFill>
            </a:endParaRPr>
          </a:p>
          <a:p>
            <a:pPr indent="0" lvl="0" marL="0" rtl="0" algn="l">
              <a:spcBef>
                <a:spcPts val="0"/>
              </a:spcBef>
              <a:spcAft>
                <a:spcPts val="0"/>
              </a:spcAft>
              <a:buNone/>
            </a:pPr>
            <a:r>
              <a:t/>
            </a:r>
            <a:endParaRPr sz="2500">
              <a:solidFill>
                <a:srgbClr val="FFFAF4"/>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22" name="Google Shape;222;p55"/>
          <p:cNvPicPr preferRelativeResize="0"/>
          <p:nvPr/>
        </p:nvPicPr>
        <p:blipFill>
          <a:blip r:embed="rId3">
            <a:alphaModFix/>
          </a:blip>
          <a:stretch>
            <a:fillRect/>
          </a:stretch>
        </p:blipFill>
        <p:spPr>
          <a:xfrm>
            <a:off x="6693700" y="902875"/>
            <a:ext cx="5270125" cy="3571325"/>
          </a:xfrm>
          <a:prstGeom prst="rect">
            <a:avLst/>
          </a:prstGeom>
          <a:noFill/>
          <a:ln>
            <a:noFill/>
          </a:ln>
        </p:spPr>
      </p:pic>
      <p:sp>
        <p:nvSpPr>
          <p:cNvPr id="223" name="Google Shape;223;p55"/>
          <p:cNvSpPr txBox="1"/>
          <p:nvPr/>
        </p:nvSpPr>
        <p:spPr>
          <a:xfrm>
            <a:off x="6894675" y="4914300"/>
            <a:ext cx="4375200" cy="11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1"/>
                </a:solidFill>
              </a:rPr>
              <a:t>Krakatoa volcano  (the loudest sound ever heard….) </a:t>
            </a:r>
            <a:endParaRPr b="1" sz="23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56"/>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29" name="Google Shape;229;p56"/>
          <p:cNvSpPr txBox="1"/>
          <p:nvPr>
            <p:ph idx="1" type="body"/>
          </p:nvPr>
        </p:nvSpPr>
        <p:spPr>
          <a:xfrm>
            <a:off x="415600" y="1536633"/>
            <a:ext cx="113607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Video Krakatoa 1883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lt1"/>
                </a:solidFill>
              </a:rPr>
              <a:t>(at 6 min, the loudest sound ever heard!)</a:t>
            </a:r>
            <a:endParaRPr>
              <a:solidFill>
                <a:schemeClr val="lt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4"/>
              </a:rPr>
              <a:t>Kurzgesagt Biggest Eruptions that Changed the World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FFFAF4"/>
                </a:solidFill>
              </a:rPr>
              <a:t>(extra info here that is more useful later)</a:t>
            </a:r>
            <a:endParaRPr>
              <a:solidFill>
                <a:srgbClr val="FFFAF4"/>
              </a:solidFill>
            </a:endParaRPr>
          </a:p>
        </p:txBody>
      </p:sp>
      <p:pic>
        <p:nvPicPr>
          <p:cNvPr id="230" name="Google Shape;230;p56"/>
          <p:cNvPicPr preferRelativeResize="0"/>
          <p:nvPr/>
        </p:nvPicPr>
        <p:blipFill>
          <a:blip r:embed="rId5">
            <a:alphaModFix/>
          </a:blip>
          <a:stretch>
            <a:fillRect/>
          </a:stretch>
        </p:blipFill>
        <p:spPr>
          <a:xfrm>
            <a:off x="7317852" y="540813"/>
            <a:ext cx="4332275" cy="5776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57"/>
          <p:cNvSpPr txBox="1"/>
          <p:nvPr>
            <p:ph type="title"/>
          </p:nvPr>
        </p:nvSpPr>
        <p:spPr>
          <a:xfrm>
            <a:off x="207800" y="370400"/>
            <a:ext cx="10916700" cy="61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L3 Recap:  What happens to </a:t>
            </a:r>
            <a:r>
              <a:rPr lang="en" u="sng"/>
              <a:t>matter</a:t>
            </a:r>
            <a:r>
              <a:rPr lang="en"/>
              <a:t> when more force is applied?   What happens to </a:t>
            </a:r>
            <a:r>
              <a:rPr lang="en" u="sng"/>
              <a:t>energy</a:t>
            </a:r>
            <a:r>
              <a:rPr lang="en"/>
              <a:t> when force applied? When force removed?   </a:t>
            </a:r>
            <a:endParaRPr/>
          </a:p>
        </p:txBody>
      </p:sp>
      <p:sp>
        <p:nvSpPr>
          <p:cNvPr id="236" name="Google Shape;236;p57"/>
          <p:cNvSpPr txBox="1"/>
          <p:nvPr>
            <p:ph idx="1" type="body"/>
          </p:nvPr>
        </p:nvSpPr>
        <p:spPr>
          <a:xfrm>
            <a:off x="4575388" y="1833475"/>
            <a:ext cx="3267900" cy="423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FFFAF4"/>
                </a:solidFill>
              </a:rPr>
              <a:t>Discuss the terms:  </a:t>
            </a:r>
            <a:endParaRPr sz="2300">
              <a:solidFill>
                <a:srgbClr val="FFFAF4"/>
              </a:solidFill>
            </a:endParaRPr>
          </a:p>
          <a:p>
            <a:pPr indent="0" lvl="0" marL="0" rtl="0" algn="l">
              <a:spcBef>
                <a:spcPts val="0"/>
              </a:spcBef>
              <a:spcAft>
                <a:spcPts val="0"/>
              </a:spcAft>
              <a:buNone/>
            </a:pPr>
            <a:r>
              <a:t/>
            </a:r>
            <a:endParaRPr sz="2300">
              <a:solidFill>
                <a:srgbClr val="FFFAF4"/>
              </a:solidFill>
            </a:endParaRPr>
          </a:p>
          <a:p>
            <a:pPr indent="0" lvl="0" marL="0" rtl="0" algn="l">
              <a:spcBef>
                <a:spcPts val="0"/>
              </a:spcBef>
              <a:spcAft>
                <a:spcPts val="0"/>
              </a:spcAft>
              <a:buNone/>
            </a:pPr>
            <a:r>
              <a:rPr lang="en" sz="2300">
                <a:solidFill>
                  <a:srgbClr val="FFFAF4"/>
                </a:solidFill>
              </a:rPr>
              <a:t>Elastic behavior</a:t>
            </a:r>
            <a:endParaRPr sz="2300">
              <a:solidFill>
                <a:srgbClr val="FFFAF4"/>
              </a:solidFill>
            </a:endParaRPr>
          </a:p>
          <a:p>
            <a:pPr indent="0" lvl="0" marL="0" rtl="0" algn="l">
              <a:spcBef>
                <a:spcPts val="0"/>
              </a:spcBef>
              <a:spcAft>
                <a:spcPts val="0"/>
              </a:spcAft>
              <a:buNone/>
            </a:pPr>
            <a:r>
              <a:t/>
            </a:r>
            <a:endParaRPr sz="2300">
              <a:solidFill>
                <a:srgbClr val="FFFAF4"/>
              </a:solidFill>
            </a:endParaRPr>
          </a:p>
          <a:p>
            <a:pPr indent="0" lvl="0" marL="0" rtl="0" algn="l">
              <a:spcBef>
                <a:spcPts val="0"/>
              </a:spcBef>
              <a:spcAft>
                <a:spcPts val="0"/>
              </a:spcAft>
              <a:buNone/>
            </a:pPr>
            <a:r>
              <a:rPr lang="en" sz="2300">
                <a:solidFill>
                  <a:srgbClr val="FFFAF4"/>
                </a:solidFill>
              </a:rPr>
              <a:t>Deformation</a:t>
            </a:r>
            <a:endParaRPr sz="2300">
              <a:solidFill>
                <a:srgbClr val="FFFAF4"/>
              </a:solidFill>
            </a:endParaRPr>
          </a:p>
          <a:p>
            <a:pPr indent="0" lvl="0" marL="0" rtl="0" algn="l">
              <a:spcBef>
                <a:spcPts val="0"/>
              </a:spcBef>
              <a:spcAft>
                <a:spcPts val="0"/>
              </a:spcAft>
              <a:buNone/>
            </a:pPr>
            <a:r>
              <a:t/>
            </a:r>
            <a:endParaRPr sz="2300"/>
          </a:p>
          <a:p>
            <a:pPr indent="0" lvl="0" marL="0" rtl="0" algn="l">
              <a:spcBef>
                <a:spcPts val="0"/>
              </a:spcBef>
              <a:spcAft>
                <a:spcPts val="0"/>
              </a:spcAft>
              <a:buNone/>
            </a:pPr>
            <a:r>
              <a:t/>
            </a:r>
            <a:endParaRPr sz="1400"/>
          </a:p>
        </p:txBody>
      </p:sp>
      <p:pic>
        <p:nvPicPr>
          <p:cNvPr id="237" name="Google Shape;237;p57" title="IMG_0187.jpg"/>
          <p:cNvPicPr preferRelativeResize="0"/>
          <p:nvPr/>
        </p:nvPicPr>
        <p:blipFill>
          <a:blip r:embed="rId3">
            <a:alphaModFix/>
          </a:blip>
          <a:stretch>
            <a:fillRect/>
          </a:stretch>
        </p:blipFill>
        <p:spPr>
          <a:xfrm>
            <a:off x="391259" y="983936"/>
            <a:ext cx="3990240" cy="5320315"/>
          </a:xfrm>
          <a:prstGeom prst="rect">
            <a:avLst/>
          </a:prstGeom>
          <a:noFill/>
          <a:ln>
            <a:noFill/>
          </a:ln>
        </p:spPr>
      </p:pic>
      <p:pic>
        <p:nvPicPr>
          <p:cNvPr id="238" name="Google Shape;238;p57" title="IMG_0188.jpg"/>
          <p:cNvPicPr preferRelativeResize="0"/>
          <p:nvPr/>
        </p:nvPicPr>
        <p:blipFill>
          <a:blip r:embed="rId4">
            <a:alphaModFix/>
          </a:blip>
          <a:stretch>
            <a:fillRect/>
          </a:stretch>
        </p:blipFill>
        <p:spPr>
          <a:xfrm>
            <a:off x="7843300" y="910216"/>
            <a:ext cx="4272499" cy="56966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58"/>
          <p:cNvPicPr preferRelativeResize="0"/>
          <p:nvPr/>
        </p:nvPicPr>
        <p:blipFill>
          <a:blip r:embed="rId3">
            <a:alphaModFix/>
          </a:blip>
          <a:stretch>
            <a:fillRect/>
          </a:stretch>
        </p:blipFill>
        <p:spPr>
          <a:xfrm>
            <a:off x="203200" y="203200"/>
            <a:ext cx="8211066" cy="6158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59"/>
          <p:cNvSpPr txBox="1"/>
          <p:nvPr>
            <p:ph type="title"/>
          </p:nvPr>
        </p:nvSpPr>
        <p:spPr>
          <a:xfrm>
            <a:off x="554133" y="791156"/>
            <a:ext cx="15147600" cy="101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49" name="Google Shape;249;p59"/>
          <p:cNvSpPr txBox="1"/>
          <p:nvPr>
            <p:ph idx="1" type="body"/>
          </p:nvPr>
        </p:nvSpPr>
        <p:spPr>
          <a:xfrm>
            <a:off x="642369" y="2148379"/>
            <a:ext cx="3006000" cy="301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lt1"/>
                </a:solidFill>
              </a:rPr>
              <a:t>On back of L3 Notes</a:t>
            </a:r>
            <a:endParaRPr sz="2000">
              <a:solidFill>
                <a:schemeClr val="lt1"/>
              </a:solidFill>
            </a:endParaRPr>
          </a:p>
          <a:p>
            <a:pPr indent="0" lvl="0" marL="0" rtl="0" algn="l">
              <a:spcBef>
                <a:spcPts val="0"/>
              </a:spcBef>
              <a:spcAft>
                <a:spcPts val="0"/>
              </a:spcAft>
              <a:buNone/>
            </a:pPr>
            <a:r>
              <a:t/>
            </a:r>
            <a:endParaRPr sz="2000">
              <a:solidFill>
                <a:schemeClr val="lt1"/>
              </a:solidFill>
            </a:endParaRPr>
          </a:p>
          <a:p>
            <a:pPr indent="0" lvl="0" marL="0" rtl="0" algn="l">
              <a:spcBef>
                <a:spcPts val="0"/>
              </a:spcBef>
              <a:spcAft>
                <a:spcPts val="0"/>
              </a:spcAft>
              <a:buNone/>
            </a:pPr>
            <a:r>
              <a:rPr lang="en" sz="2000">
                <a:solidFill>
                  <a:schemeClr val="lt1"/>
                </a:solidFill>
              </a:rPr>
              <a:t>F</a:t>
            </a:r>
            <a:r>
              <a:rPr baseline="-25000" lang="en" sz="2000">
                <a:solidFill>
                  <a:schemeClr val="lt1"/>
                </a:solidFill>
              </a:rPr>
              <a:t>g</a:t>
            </a:r>
            <a:r>
              <a:rPr lang="en" sz="2000">
                <a:solidFill>
                  <a:schemeClr val="lt1"/>
                </a:solidFill>
              </a:rPr>
              <a:t> = mass x (10 m/s/s)</a:t>
            </a:r>
            <a:endParaRPr sz="2000">
              <a:solidFill>
                <a:schemeClr val="lt1"/>
              </a:solidFill>
            </a:endParaRPr>
          </a:p>
        </p:txBody>
      </p:sp>
      <p:sp>
        <p:nvSpPr>
          <p:cNvPr id="250" name="Google Shape;250;p59"/>
          <p:cNvSpPr txBox="1"/>
          <p:nvPr>
            <p:ph idx="2" type="body"/>
          </p:nvPr>
        </p:nvSpPr>
        <p:spPr>
          <a:xfrm>
            <a:off x="8590933" y="2048844"/>
            <a:ext cx="7110900" cy="607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51" name="Google Shape;251;p59"/>
          <p:cNvPicPr preferRelativeResize="0"/>
          <p:nvPr/>
        </p:nvPicPr>
        <p:blipFill>
          <a:blip r:embed="rId3">
            <a:alphaModFix/>
          </a:blip>
          <a:stretch>
            <a:fillRect/>
          </a:stretch>
        </p:blipFill>
        <p:spPr>
          <a:xfrm>
            <a:off x="3774967" y="545233"/>
            <a:ext cx="7655034" cy="5741266"/>
          </a:xfrm>
          <a:prstGeom prst="rect">
            <a:avLst/>
          </a:prstGeom>
          <a:noFill/>
          <a:ln>
            <a:noFill/>
          </a:ln>
        </p:spPr>
      </p:pic>
      <p:sp>
        <p:nvSpPr>
          <p:cNvPr id="252" name="Google Shape;252;p59"/>
          <p:cNvSpPr/>
          <p:nvPr/>
        </p:nvSpPr>
        <p:spPr>
          <a:xfrm>
            <a:off x="3603700" y="1210225"/>
            <a:ext cx="8223600" cy="4950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59"/>
          <p:cNvSpPr txBox="1"/>
          <p:nvPr/>
        </p:nvSpPr>
        <p:spPr>
          <a:xfrm>
            <a:off x="6417930" y="4602550"/>
            <a:ext cx="623400" cy="641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F</a:t>
            </a:r>
            <a:r>
              <a:rPr baseline="-25000" lang="en" sz="2500">
                <a:solidFill>
                  <a:schemeClr val="dk1"/>
                </a:solidFill>
              </a:rPr>
              <a:t>N</a:t>
            </a:r>
            <a:endParaRPr baseline="-25000" sz="25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60"/>
          <p:cNvSpPr txBox="1"/>
          <p:nvPr>
            <p:ph type="title"/>
          </p:nvPr>
        </p:nvSpPr>
        <p:spPr>
          <a:xfrm>
            <a:off x="415600" y="593376"/>
            <a:ext cx="11360700" cy="94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 w Forces (on a whiteboard w/ partner)</a:t>
            </a:r>
            <a:endParaRPr/>
          </a:p>
          <a:p>
            <a:pPr indent="-388620" lvl="0" marL="457200" rtl="0" algn="l">
              <a:spcBef>
                <a:spcPts val="0"/>
              </a:spcBef>
              <a:spcAft>
                <a:spcPts val="0"/>
              </a:spcAft>
              <a:buSzPct val="100000"/>
              <a:buAutoNum type="arabicParenR"/>
            </a:pPr>
            <a:r>
              <a:rPr lang="en"/>
              <a:t>Draw the arrows 	2) Label the forces w/ symbol to identify   </a:t>
            </a:r>
            <a:endParaRPr/>
          </a:p>
        </p:txBody>
      </p:sp>
      <p:sp>
        <p:nvSpPr>
          <p:cNvPr id="259" name="Google Shape;259;p60"/>
          <p:cNvSpPr txBox="1"/>
          <p:nvPr>
            <p:ph idx="1" type="body"/>
          </p:nvPr>
        </p:nvSpPr>
        <p:spPr>
          <a:xfrm>
            <a:off x="415600" y="1885026"/>
            <a:ext cx="9963000" cy="4555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lt1"/>
              </a:buClr>
              <a:buSzPts val="2400"/>
              <a:buAutoNum type="arabicPeriod"/>
            </a:pPr>
            <a:r>
              <a:rPr b="1" lang="en" sz="2400">
                <a:solidFill>
                  <a:schemeClr val="lt1"/>
                </a:solidFill>
              </a:rPr>
              <a:t>A book of mass “m” at rest on a table</a:t>
            </a:r>
            <a:endParaRPr b="1" sz="2400">
              <a:solidFill>
                <a:schemeClr val="lt1"/>
              </a:solidFill>
            </a:endParaRPr>
          </a:p>
          <a:p>
            <a:pPr indent="0" lvl="0" marL="457200" rtl="0" algn="l">
              <a:spcBef>
                <a:spcPts val="0"/>
              </a:spcBef>
              <a:spcAft>
                <a:spcPts val="0"/>
              </a:spcAft>
              <a:buNone/>
            </a:pPr>
            <a:r>
              <a:t/>
            </a:r>
            <a:endParaRPr b="1" sz="2400">
              <a:solidFill>
                <a:schemeClr val="lt1"/>
              </a:solidFill>
            </a:endParaRPr>
          </a:p>
          <a:p>
            <a:pPr indent="-381000" lvl="0" marL="457200" rtl="0" algn="l">
              <a:spcBef>
                <a:spcPts val="0"/>
              </a:spcBef>
              <a:spcAft>
                <a:spcPts val="0"/>
              </a:spcAft>
              <a:buClr>
                <a:schemeClr val="lt1"/>
              </a:buClr>
              <a:buSzPts val="2400"/>
              <a:buAutoNum type="arabicPeriod"/>
            </a:pPr>
            <a:r>
              <a:rPr b="1" lang="en" sz="2400">
                <a:solidFill>
                  <a:schemeClr val="lt1"/>
                </a:solidFill>
              </a:rPr>
              <a:t>A book of mass “3m” (Art History) at rest on a table (how different from above?)</a:t>
            </a:r>
            <a:endParaRPr b="1" sz="2400">
              <a:solidFill>
                <a:schemeClr val="lt1"/>
              </a:solidFill>
            </a:endParaRPr>
          </a:p>
          <a:p>
            <a:pPr indent="0" lvl="0" marL="457200" rtl="0" algn="l">
              <a:spcBef>
                <a:spcPts val="0"/>
              </a:spcBef>
              <a:spcAft>
                <a:spcPts val="0"/>
              </a:spcAft>
              <a:buNone/>
            </a:pPr>
            <a:r>
              <a:t/>
            </a:r>
            <a:endParaRPr b="1" sz="2400">
              <a:solidFill>
                <a:schemeClr val="lt1"/>
              </a:solidFill>
            </a:endParaRPr>
          </a:p>
          <a:p>
            <a:pPr indent="-381000" lvl="0" marL="457200" rtl="0" algn="l">
              <a:spcBef>
                <a:spcPts val="0"/>
              </a:spcBef>
              <a:spcAft>
                <a:spcPts val="0"/>
              </a:spcAft>
              <a:buClr>
                <a:schemeClr val="lt1"/>
              </a:buClr>
              <a:buSzPts val="2400"/>
              <a:buAutoNum type="arabicPeriod"/>
            </a:pPr>
            <a:r>
              <a:rPr b="1" lang="en" sz="2400">
                <a:solidFill>
                  <a:schemeClr val="lt1"/>
                </a:solidFill>
              </a:rPr>
              <a:t>Student picks up the book “m”, lifting it above the table</a:t>
            </a:r>
            <a:endParaRPr b="1" sz="2400">
              <a:solidFill>
                <a:schemeClr val="lt1"/>
              </a:solidFill>
            </a:endParaRPr>
          </a:p>
          <a:p>
            <a:pPr indent="0" lvl="0" marL="457200" rtl="0" algn="l">
              <a:spcBef>
                <a:spcPts val="0"/>
              </a:spcBef>
              <a:spcAft>
                <a:spcPts val="0"/>
              </a:spcAft>
              <a:buNone/>
            </a:pPr>
            <a:r>
              <a:t/>
            </a:r>
            <a:endParaRPr b="1" sz="2400">
              <a:solidFill>
                <a:schemeClr val="lt1"/>
              </a:solidFill>
            </a:endParaRPr>
          </a:p>
          <a:p>
            <a:pPr indent="-381000" lvl="0" marL="457200" rtl="0" algn="l">
              <a:spcBef>
                <a:spcPts val="0"/>
              </a:spcBef>
              <a:spcAft>
                <a:spcPts val="0"/>
              </a:spcAft>
              <a:buClr>
                <a:schemeClr val="lt1"/>
              </a:buClr>
              <a:buSzPts val="2400"/>
              <a:buAutoNum type="arabicPeriod"/>
            </a:pPr>
            <a:r>
              <a:rPr b="1" lang="en" sz="2400">
                <a:solidFill>
                  <a:schemeClr val="lt1"/>
                </a:solidFill>
              </a:rPr>
              <a:t>Student mass “M” falls through thin ice</a:t>
            </a:r>
            <a:r>
              <a:rPr lang="en" sz="2400">
                <a:solidFill>
                  <a:schemeClr val="lt1"/>
                </a:solidFill>
              </a:rPr>
              <a:t> </a:t>
            </a:r>
            <a:endParaRPr sz="2400">
              <a:solidFill>
                <a:schemeClr val="lt1"/>
              </a:solidFill>
            </a:endParaRPr>
          </a:p>
          <a:p>
            <a:pPr indent="0" lvl="0" marL="457200" rtl="0" algn="l">
              <a:spcBef>
                <a:spcPts val="0"/>
              </a:spcBef>
              <a:spcAft>
                <a:spcPts val="0"/>
              </a:spcAft>
              <a:buNone/>
            </a:pPr>
            <a:r>
              <a:t/>
            </a:r>
            <a:endParaRPr sz="20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61"/>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Continued force diagram practice </a:t>
            </a:r>
            <a:endParaRPr/>
          </a:p>
        </p:txBody>
      </p:sp>
      <p:sp>
        <p:nvSpPr>
          <p:cNvPr id="265" name="Google Shape;265;p61"/>
          <p:cNvSpPr txBox="1"/>
          <p:nvPr>
            <p:ph idx="1" type="body"/>
          </p:nvPr>
        </p:nvSpPr>
        <p:spPr>
          <a:xfrm>
            <a:off x="415600" y="1536625"/>
            <a:ext cx="78726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rgbClr val="FFFAF4"/>
                </a:solidFill>
              </a:rPr>
              <a:t>5.  </a:t>
            </a:r>
            <a:r>
              <a:rPr b="1" lang="en" sz="2400">
                <a:solidFill>
                  <a:srgbClr val="FFFAF4"/>
                </a:solidFill>
              </a:rPr>
              <a:t>Student standing at rest on a skateboard</a:t>
            </a:r>
            <a:endParaRPr b="1" sz="2400">
              <a:solidFill>
                <a:srgbClr val="FFFAF4"/>
              </a:solidFill>
            </a:endParaRPr>
          </a:p>
          <a:p>
            <a:pPr indent="0" lvl="0" marL="0" rtl="0" algn="l">
              <a:spcBef>
                <a:spcPts val="0"/>
              </a:spcBef>
              <a:spcAft>
                <a:spcPts val="0"/>
              </a:spcAft>
              <a:buNone/>
            </a:pPr>
            <a:r>
              <a:t/>
            </a:r>
            <a:endParaRPr b="1" sz="2400">
              <a:solidFill>
                <a:srgbClr val="FFFAF4"/>
              </a:solidFill>
            </a:endParaRPr>
          </a:p>
          <a:p>
            <a:pPr indent="0" lvl="0" marL="0" rtl="0" algn="l">
              <a:spcBef>
                <a:spcPts val="0"/>
              </a:spcBef>
              <a:spcAft>
                <a:spcPts val="0"/>
              </a:spcAft>
              <a:buNone/>
            </a:pPr>
            <a:r>
              <a:rPr b="1" lang="en" sz="2400">
                <a:solidFill>
                  <a:srgbClr val="FFFAF4"/>
                </a:solidFill>
              </a:rPr>
              <a:t>6.  Student gets a push rightward to get moving</a:t>
            </a:r>
            <a:endParaRPr b="1" sz="2400">
              <a:solidFill>
                <a:srgbClr val="FFFAF4"/>
              </a:solidFill>
            </a:endParaRPr>
          </a:p>
          <a:p>
            <a:pPr indent="0" lvl="0" marL="457200" rtl="0" algn="l">
              <a:spcBef>
                <a:spcPts val="0"/>
              </a:spcBef>
              <a:spcAft>
                <a:spcPts val="0"/>
              </a:spcAft>
              <a:buNone/>
            </a:pPr>
            <a:r>
              <a:t/>
            </a:r>
            <a:endParaRPr b="1" sz="2400">
              <a:solidFill>
                <a:srgbClr val="FFFAF4"/>
              </a:solidFill>
            </a:endParaRPr>
          </a:p>
          <a:p>
            <a:pPr indent="0" lvl="0" marL="0" rtl="0" algn="l">
              <a:spcBef>
                <a:spcPts val="0"/>
              </a:spcBef>
              <a:spcAft>
                <a:spcPts val="0"/>
              </a:spcAft>
              <a:buNone/>
            </a:pPr>
            <a:r>
              <a:rPr b="1" lang="en" sz="2400">
                <a:solidFill>
                  <a:srgbClr val="FFFAF4"/>
                </a:solidFill>
              </a:rPr>
              <a:t>7.  Student slows down while moving rightward (wheel bearing have lots of friction) </a:t>
            </a:r>
            <a:endParaRPr b="1" sz="2400">
              <a:solidFill>
                <a:srgbClr val="FFFAF4"/>
              </a:solidFill>
            </a:endParaRPr>
          </a:p>
          <a:p>
            <a:pPr indent="0" lvl="0" marL="457200" rtl="0" algn="l">
              <a:spcBef>
                <a:spcPts val="0"/>
              </a:spcBef>
              <a:spcAft>
                <a:spcPts val="0"/>
              </a:spcAft>
              <a:buNone/>
            </a:pPr>
            <a:r>
              <a:t/>
            </a:r>
            <a:endParaRPr sz="1600">
              <a:solidFill>
                <a:srgbClr val="FFFAF4"/>
              </a:solidFill>
            </a:endParaRPr>
          </a:p>
          <a:p>
            <a:pPr indent="0" lvl="0" marL="0" rtl="0" algn="l">
              <a:spcBef>
                <a:spcPts val="0"/>
              </a:spcBef>
              <a:spcAft>
                <a:spcPts val="0"/>
              </a:spcAft>
              <a:buNone/>
            </a:pPr>
            <a:r>
              <a:t/>
            </a:r>
            <a:endParaRPr sz="1600">
              <a:solidFill>
                <a:srgbClr val="FFFAF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62"/>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Answers  </a:t>
            </a:r>
            <a:endParaRPr/>
          </a:p>
        </p:txBody>
      </p:sp>
      <p:sp>
        <p:nvSpPr>
          <p:cNvPr id="271" name="Google Shape;271;p62"/>
          <p:cNvSpPr txBox="1"/>
          <p:nvPr>
            <p:ph idx="1" type="body"/>
          </p:nvPr>
        </p:nvSpPr>
        <p:spPr>
          <a:xfrm>
            <a:off x="4156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72" name="Google Shape;272;p62"/>
          <p:cNvSpPr txBox="1"/>
          <p:nvPr>
            <p:ph idx="2" type="body"/>
          </p:nvPr>
        </p:nvSpPr>
        <p:spPr>
          <a:xfrm>
            <a:off x="64432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73" name="Google Shape;273;p62" title="IMG_0193.jpg"/>
          <p:cNvPicPr preferRelativeResize="0"/>
          <p:nvPr/>
        </p:nvPicPr>
        <p:blipFill rotWithShape="1">
          <a:blip r:embed="rId3">
            <a:alphaModFix/>
          </a:blip>
          <a:srcRect b="16715" l="0" r="0" t="0"/>
          <a:stretch/>
        </p:blipFill>
        <p:spPr>
          <a:xfrm>
            <a:off x="2610625" y="0"/>
            <a:ext cx="6057124" cy="65645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63"/>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www.physicsclassroom.com</a:t>
            </a:r>
            <a:r>
              <a:rPr lang="en"/>
              <a:t> </a:t>
            </a:r>
            <a:endParaRPr/>
          </a:p>
        </p:txBody>
      </p:sp>
      <p:sp>
        <p:nvSpPr>
          <p:cNvPr id="279" name="Google Shape;279;p63"/>
          <p:cNvSpPr txBox="1"/>
          <p:nvPr>
            <p:ph idx="1" type="body"/>
          </p:nvPr>
        </p:nvSpPr>
        <p:spPr>
          <a:xfrm>
            <a:off x="415600" y="1536625"/>
            <a:ext cx="41949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solidFill>
                  <a:srgbClr val="FFFAF4"/>
                </a:solidFill>
              </a:rPr>
              <a:t>Task Tracker</a:t>
            </a:r>
            <a:endParaRPr sz="2700">
              <a:solidFill>
                <a:srgbClr val="FFFAF4"/>
              </a:solidFill>
            </a:endParaRPr>
          </a:p>
          <a:p>
            <a:pPr indent="0" lvl="0" marL="0" rtl="0" algn="l">
              <a:spcBef>
                <a:spcPts val="0"/>
              </a:spcBef>
              <a:spcAft>
                <a:spcPts val="0"/>
              </a:spcAft>
              <a:buNone/>
            </a:pPr>
            <a:r>
              <a:t/>
            </a:r>
            <a:endParaRPr sz="2700">
              <a:solidFill>
                <a:srgbClr val="FFFAF4"/>
              </a:solidFill>
            </a:endParaRPr>
          </a:p>
          <a:p>
            <a:pPr indent="0" lvl="0" marL="0" rtl="0" algn="l">
              <a:spcBef>
                <a:spcPts val="0"/>
              </a:spcBef>
              <a:spcAft>
                <a:spcPts val="0"/>
              </a:spcAft>
              <a:buNone/>
            </a:pPr>
            <a:r>
              <a:rPr lang="en" sz="2700">
                <a:solidFill>
                  <a:srgbClr val="FFFAF4"/>
                </a:solidFill>
              </a:rPr>
              <a:t>Recognizing Forces</a:t>
            </a:r>
            <a:endParaRPr sz="2700">
              <a:solidFill>
                <a:srgbClr val="FFFAF4"/>
              </a:solidFill>
            </a:endParaRPr>
          </a:p>
          <a:p>
            <a:pPr indent="0" lvl="0" marL="0" rtl="0" algn="l">
              <a:spcBef>
                <a:spcPts val="0"/>
              </a:spcBef>
              <a:spcAft>
                <a:spcPts val="0"/>
              </a:spcAft>
              <a:buNone/>
            </a:pPr>
            <a:r>
              <a:t/>
            </a:r>
            <a:endParaRPr sz="2700">
              <a:solidFill>
                <a:srgbClr val="FFFAF4"/>
              </a:solidFill>
            </a:endParaRPr>
          </a:p>
          <a:p>
            <a:pPr indent="0" lvl="0" marL="0" rtl="0" algn="l">
              <a:spcBef>
                <a:spcPts val="0"/>
              </a:spcBef>
              <a:spcAft>
                <a:spcPts val="0"/>
              </a:spcAft>
              <a:buNone/>
            </a:pPr>
            <a:r>
              <a:rPr lang="en" sz="2700">
                <a:solidFill>
                  <a:srgbClr val="FFFAF4"/>
                </a:solidFill>
              </a:rPr>
              <a:t>Apprentice only</a:t>
            </a:r>
            <a:endParaRPr sz="2700">
              <a:solidFill>
                <a:srgbClr val="FFFAF4"/>
              </a:solidFill>
            </a:endParaRPr>
          </a:p>
          <a:p>
            <a:pPr indent="0" lvl="0" marL="0" rtl="0" algn="l">
              <a:spcBef>
                <a:spcPts val="0"/>
              </a:spcBef>
              <a:spcAft>
                <a:spcPts val="0"/>
              </a:spcAft>
              <a:buNone/>
            </a:pPr>
            <a:r>
              <a:t/>
            </a:r>
            <a:endParaRPr sz="2700">
              <a:solidFill>
                <a:srgbClr val="FFFAF4"/>
              </a:solidFill>
            </a:endParaRPr>
          </a:p>
          <a:p>
            <a:pPr indent="0" lvl="0" marL="0" rtl="0" algn="l">
              <a:spcBef>
                <a:spcPts val="0"/>
              </a:spcBef>
              <a:spcAft>
                <a:spcPts val="0"/>
              </a:spcAft>
              <a:buNone/>
            </a:pPr>
            <a:r>
              <a:rPr lang="en" sz="2700">
                <a:solidFill>
                  <a:srgbClr val="FFFAF4"/>
                </a:solidFill>
              </a:rPr>
              <a:t>(hint:  use </a:t>
            </a:r>
            <a:r>
              <a:rPr lang="en" sz="2700">
                <a:solidFill>
                  <a:srgbClr val="FFFF00"/>
                </a:solidFill>
              </a:rPr>
              <a:t>air resistance</a:t>
            </a:r>
            <a:r>
              <a:rPr lang="en" sz="2700">
                <a:solidFill>
                  <a:srgbClr val="FFFAF4"/>
                </a:solidFill>
              </a:rPr>
              <a:t> </a:t>
            </a:r>
            <a:endParaRPr sz="2700">
              <a:solidFill>
                <a:srgbClr val="FFFAF4"/>
              </a:solidFill>
            </a:endParaRPr>
          </a:p>
          <a:p>
            <a:pPr indent="0" lvl="0" marL="0" rtl="0" algn="l">
              <a:spcBef>
                <a:spcPts val="0"/>
              </a:spcBef>
              <a:spcAft>
                <a:spcPts val="0"/>
              </a:spcAft>
              <a:buNone/>
            </a:pPr>
            <a:r>
              <a:rPr lang="en" sz="2700">
                <a:solidFill>
                  <a:srgbClr val="FFFAF4"/>
                </a:solidFill>
              </a:rPr>
              <a:t>for </a:t>
            </a:r>
            <a:r>
              <a:rPr lang="en" sz="2700">
                <a:solidFill>
                  <a:srgbClr val="FFFF00"/>
                </a:solidFill>
              </a:rPr>
              <a:t>any scenario moving</a:t>
            </a:r>
            <a:r>
              <a:rPr lang="en" sz="2700">
                <a:solidFill>
                  <a:srgbClr val="FFFAF4"/>
                </a:solidFill>
              </a:rPr>
              <a:t> </a:t>
            </a:r>
            <a:endParaRPr sz="2700">
              <a:solidFill>
                <a:srgbClr val="FFFAF4"/>
              </a:solidFill>
            </a:endParaRPr>
          </a:p>
          <a:p>
            <a:pPr indent="0" lvl="0" marL="0" rtl="0" algn="l">
              <a:spcBef>
                <a:spcPts val="0"/>
              </a:spcBef>
              <a:spcAft>
                <a:spcPts val="0"/>
              </a:spcAft>
              <a:buNone/>
            </a:pPr>
            <a:r>
              <a:rPr lang="en" sz="2700">
                <a:solidFill>
                  <a:srgbClr val="FFFAF4"/>
                </a:solidFill>
              </a:rPr>
              <a:t>through the air)  </a:t>
            </a:r>
            <a:endParaRPr sz="2700">
              <a:solidFill>
                <a:srgbClr val="FFFAF4"/>
              </a:solidFill>
            </a:endParaRPr>
          </a:p>
        </p:txBody>
      </p:sp>
      <p:sp>
        <p:nvSpPr>
          <p:cNvPr id="280" name="Google Shape;280;p63"/>
          <p:cNvSpPr txBox="1"/>
          <p:nvPr>
            <p:ph idx="2" type="body"/>
          </p:nvPr>
        </p:nvSpPr>
        <p:spPr>
          <a:xfrm>
            <a:off x="64432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81" name="Google Shape;281;p63"/>
          <p:cNvPicPr preferRelativeResize="0"/>
          <p:nvPr/>
        </p:nvPicPr>
        <p:blipFill rotWithShape="1">
          <a:blip r:embed="rId4">
            <a:alphaModFix/>
          </a:blip>
          <a:srcRect b="12779" l="9728" r="46529" t="10925"/>
          <a:stretch/>
        </p:blipFill>
        <p:spPr>
          <a:xfrm>
            <a:off x="4759175" y="1536625"/>
            <a:ext cx="7126001" cy="4660975"/>
          </a:xfrm>
          <a:prstGeom prst="rect">
            <a:avLst/>
          </a:prstGeom>
          <a:noFill/>
          <a:ln>
            <a:noFill/>
          </a:ln>
        </p:spPr>
      </p:pic>
      <p:sp>
        <p:nvSpPr>
          <p:cNvPr id="282" name="Google Shape;282;p63"/>
          <p:cNvSpPr/>
          <p:nvPr/>
        </p:nvSpPr>
        <p:spPr>
          <a:xfrm>
            <a:off x="5130800" y="3132675"/>
            <a:ext cx="2167500" cy="3149700"/>
          </a:xfrm>
          <a:prstGeom prst="ellipse">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4"/>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Insert link to L3 Notes here (stop here after minimum day)  </a:t>
            </a:r>
            <a:endParaRPr/>
          </a:p>
        </p:txBody>
      </p:sp>
      <p:sp>
        <p:nvSpPr>
          <p:cNvPr id="288" name="Google Shape;288;p64"/>
          <p:cNvSpPr txBox="1"/>
          <p:nvPr>
            <p:ph idx="1" type="body"/>
          </p:nvPr>
        </p:nvSpPr>
        <p:spPr>
          <a:xfrm>
            <a:off x="4156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Link to Lesson 3 Notes filled in</a:t>
            </a:r>
            <a:endParaRPr/>
          </a:p>
        </p:txBody>
      </p:sp>
      <p:sp>
        <p:nvSpPr>
          <p:cNvPr id="289" name="Google Shape;289;p64"/>
          <p:cNvSpPr txBox="1"/>
          <p:nvPr>
            <p:ph idx="2" type="body"/>
          </p:nvPr>
        </p:nvSpPr>
        <p:spPr>
          <a:xfrm>
            <a:off x="64432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65"/>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9/8 - 9/9 Agenda</a:t>
            </a:r>
            <a:endParaRPr/>
          </a:p>
        </p:txBody>
      </p:sp>
      <p:sp>
        <p:nvSpPr>
          <p:cNvPr id="295" name="Google Shape;295;p65"/>
          <p:cNvSpPr txBox="1"/>
          <p:nvPr>
            <p:ph idx="1" type="body"/>
          </p:nvPr>
        </p:nvSpPr>
        <p:spPr>
          <a:xfrm>
            <a:off x="4156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FFFF00"/>
                </a:solidFill>
              </a:rPr>
              <a:t>Park phones</a:t>
            </a:r>
            <a:endParaRPr sz="2500">
              <a:solidFill>
                <a:srgbClr val="FFFF00"/>
              </a:solidFill>
            </a:endParaRPr>
          </a:p>
          <a:p>
            <a:pPr indent="0" lvl="0" marL="0" rtl="0" algn="l">
              <a:spcBef>
                <a:spcPts val="0"/>
              </a:spcBef>
              <a:spcAft>
                <a:spcPts val="0"/>
              </a:spcAft>
              <a:buNone/>
            </a:pPr>
            <a:r>
              <a:t/>
            </a:r>
            <a:endParaRPr sz="2500">
              <a:solidFill>
                <a:srgbClr val="FFFF00"/>
              </a:solidFill>
            </a:endParaRPr>
          </a:p>
          <a:p>
            <a:pPr indent="0" lvl="0" marL="0" rtl="0" algn="l">
              <a:spcBef>
                <a:spcPts val="0"/>
              </a:spcBef>
              <a:spcAft>
                <a:spcPts val="0"/>
              </a:spcAft>
              <a:buNone/>
            </a:pPr>
            <a:r>
              <a:rPr lang="en" sz="2500">
                <a:solidFill>
                  <a:srgbClr val="FFFF00"/>
                </a:solidFill>
              </a:rPr>
              <a:t>Have L4 Notes ready</a:t>
            </a:r>
            <a:endParaRPr sz="2500">
              <a:solidFill>
                <a:srgbClr val="FFFF00"/>
              </a:solidFill>
            </a:endParaRPr>
          </a:p>
          <a:p>
            <a:pPr indent="0" lvl="0" marL="0" rtl="0" algn="l">
              <a:spcBef>
                <a:spcPts val="0"/>
              </a:spcBef>
              <a:spcAft>
                <a:spcPts val="0"/>
              </a:spcAft>
              <a:buNone/>
            </a:pPr>
            <a:r>
              <a:t/>
            </a:r>
            <a:endParaRPr sz="2500">
              <a:solidFill>
                <a:srgbClr val="FFFF00"/>
              </a:solidFill>
            </a:endParaRPr>
          </a:p>
          <a:p>
            <a:pPr indent="0" lvl="0" marL="0" rtl="0" algn="l">
              <a:spcBef>
                <a:spcPts val="0"/>
              </a:spcBef>
              <a:spcAft>
                <a:spcPts val="0"/>
              </a:spcAft>
              <a:buNone/>
            </a:pPr>
            <a:r>
              <a:rPr lang="en" sz="2500">
                <a:solidFill>
                  <a:srgbClr val="FFFF00"/>
                </a:solidFill>
              </a:rPr>
              <a:t>New seats </a:t>
            </a:r>
            <a:endParaRPr sz="2500">
              <a:solidFill>
                <a:srgbClr val="FFFF00"/>
              </a:solidFill>
            </a:endParaRPr>
          </a:p>
        </p:txBody>
      </p:sp>
      <p:sp>
        <p:nvSpPr>
          <p:cNvPr id="296" name="Google Shape;296;p65"/>
          <p:cNvSpPr txBox="1"/>
          <p:nvPr>
            <p:ph idx="2" type="body"/>
          </p:nvPr>
        </p:nvSpPr>
        <p:spPr>
          <a:xfrm>
            <a:off x="6096000" y="5469471"/>
            <a:ext cx="5680200" cy="9651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i="1" lang="en" sz="2500">
                <a:solidFill>
                  <a:srgbClr val="FFFF00"/>
                </a:solidFill>
              </a:rPr>
              <a:t>Why do we have Labor Day?</a:t>
            </a:r>
            <a:endParaRPr i="1" sz="2500">
              <a:solidFill>
                <a:srgbClr val="FFFF00"/>
              </a:solidFill>
            </a:endParaRPr>
          </a:p>
          <a:p>
            <a:pPr indent="0" lvl="0" marL="0" rtl="0" algn="l">
              <a:spcBef>
                <a:spcPts val="0"/>
              </a:spcBef>
              <a:spcAft>
                <a:spcPts val="0"/>
              </a:spcAft>
              <a:buNone/>
            </a:pPr>
            <a:r>
              <a:rPr i="1" lang="en" sz="2500">
                <a:solidFill>
                  <a:srgbClr val="FFFF00"/>
                </a:solidFill>
              </a:rPr>
              <a:t>Check in…How did you spend your holiday… </a:t>
            </a:r>
            <a:r>
              <a:rPr lang="en"/>
              <a:t> </a:t>
            </a:r>
            <a:endParaRPr/>
          </a:p>
          <a:p>
            <a:pPr indent="0" lvl="0" marL="0" rtl="0" algn="l">
              <a:spcBef>
                <a:spcPts val="0"/>
              </a:spcBef>
              <a:spcAft>
                <a:spcPts val="0"/>
              </a:spcAft>
              <a:buNone/>
            </a:pPr>
            <a:r>
              <a:t/>
            </a:r>
            <a:endParaRPr/>
          </a:p>
        </p:txBody>
      </p:sp>
      <p:pic>
        <p:nvPicPr>
          <p:cNvPr id="297" name="Google Shape;297;p65"/>
          <p:cNvPicPr preferRelativeResize="0"/>
          <p:nvPr/>
        </p:nvPicPr>
        <p:blipFill>
          <a:blip r:embed="rId3">
            <a:alphaModFix/>
          </a:blip>
          <a:stretch>
            <a:fillRect/>
          </a:stretch>
        </p:blipFill>
        <p:spPr>
          <a:xfrm>
            <a:off x="6936107" y="486758"/>
            <a:ext cx="3782173" cy="4892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6"/>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03" name="Google Shape;303;p66"/>
          <p:cNvSpPr txBox="1"/>
          <p:nvPr>
            <p:ph idx="1" type="body"/>
          </p:nvPr>
        </p:nvSpPr>
        <p:spPr>
          <a:xfrm>
            <a:off x="4156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solidFill>
                  <a:srgbClr val="FFFF00"/>
                </a:solidFill>
                <a:latin typeface="Roboto"/>
                <a:ea typeface="Roboto"/>
                <a:cs typeface="Roboto"/>
                <a:sym typeface="Roboto"/>
              </a:rPr>
              <a:t>Industrial Conditions:</a:t>
            </a:r>
            <a:r>
              <a:rPr lang="en" sz="2200">
                <a:solidFill>
                  <a:srgbClr val="FFFF00"/>
                </a:solidFill>
              </a:rPr>
              <a:t> During the height of the Industrial Revolution, average Americans worked 12-hour days and seven-day weeks in unsafe factories, mills, and mines just to survive. Even young children toiled in harsh conditions for minimal pay </a:t>
            </a:r>
            <a:endParaRPr sz="2500">
              <a:solidFill>
                <a:srgbClr val="FFFF00"/>
              </a:solidFill>
            </a:endParaRPr>
          </a:p>
        </p:txBody>
      </p:sp>
      <p:sp>
        <p:nvSpPr>
          <p:cNvPr id="304" name="Google Shape;304;p66"/>
          <p:cNvSpPr txBox="1"/>
          <p:nvPr>
            <p:ph idx="2" type="body"/>
          </p:nvPr>
        </p:nvSpPr>
        <p:spPr>
          <a:xfrm>
            <a:off x="64432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7"/>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Review the forces </a:t>
            </a:r>
            <a:endParaRPr/>
          </a:p>
        </p:txBody>
      </p:sp>
      <p:sp>
        <p:nvSpPr>
          <p:cNvPr id="310" name="Google Shape;310;p67"/>
          <p:cNvSpPr txBox="1"/>
          <p:nvPr>
            <p:ph idx="1" type="body"/>
          </p:nvPr>
        </p:nvSpPr>
        <p:spPr>
          <a:xfrm>
            <a:off x="4156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11" name="Google Shape;311;p67"/>
          <p:cNvSpPr txBox="1"/>
          <p:nvPr>
            <p:ph idx="2" type="body"/>
          </p:nvPr>
        </p:nvSpPr>
        <p:spPr>
          <a:xfrm>
            <a:off x="64432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solidFill>
                  <a:srgbClr val="FFFF00"/>
                </a:solidFill>
              </a:rPr>
              <a:t>A horse bucks, jumping upward.  Discuss a force diagram (including which forces and relative sizes) </a:t>
            </a:r>
            <a:endParaRPr sz="2100">
              <a:solidFill>
                <a:srgbClr val="FFFF00"/>
              </a:solidFill>
            </a:endParaRPr>
          </a:p>
        </p:txBody>
      </p:sp>
      <p:pic>
        <p:nvPicPr>
          <p:cNvPr id="312" name="Google Shape;312;p67"/>
          <p:cNvPicPr preferRelativeResize="0"/>
          <p:nvPr/>
        </p:nvPicPr>
        <p:blipFill>
          <a:blip r:embed="rId3">
            <a:alphaModFix/>
          </a:blip>
          <a:stretch>
            <a:fillRect/>
          </a:stretch>
        </p:blipFill>
        <p:spPr>
          <a:xfrm>
            <a:off x="415600" y="1536628"/>
            <a:ext cx="5839350" cy="3272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68"/>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18" name="Google Shape;318;p68"/>
          <p:cNvSpPr txBox="1"/>
          <p:nvPr>
            <p:ph idx="1" type="body"/>
          </p:nvPr>
        </p:nvSpPr>
        <p:spPr>
          <a:xfrm>
            <a:off x="415600" y="1536633"/>
            <a:ext cx="53331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19" name="Google Shape;319;p68"/>
          <p:cNvSpPr txBox="1"/>
          <p:nvPr>
            <p:ph idx="2" type="body"/>
          </p:nvPr>
        </p:nvSpPr>
        <p:spPr>
          <a:xfrm>
            <a:off x="7603075" y="1536625"/>
            <a:ext cx="41733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solidFill>
                  <a:srgbClr val="FFFF00"/>
                </a:solidFill>
              </a:rPr>
              <a:t>Focus on the calf.  If he is slowing down, what are the forces acting on him.  (side view) </a:t>
            </a:r>
            <a:endParaRPr sz="2600">
              <a:solidFill>
                <a:srgbClr val="FFFF00"/>
              </a:solidFill>
            </a:endParaRPr>
          </a:p>
        </p:txBody>
      </p:sp>
      <p:pic>
        <p:nvPicPr>
          <p:cNvPr id="320" name="Google Shape;320;p68"/>
          <p:cNvPicPr preferRelativeResize="0"/>
          <p:nvPr/>
        </p:nvPicPr>
        <p:blipFill>
          <a:blip r:embed="rId3">
            <a:alphaModFix/>
          </a:blip>
          <a:stretch>
            <a:fillRect/>
          </a:stretch>
        </p:blipFill>
        <p:spPr>
          <a:xfrm>
            <a:off x="396875" y="1614488"/>
            <a:ext cx="7029450" cy="3629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9"/>
          <p:cNvSpPr txBox="1"/>
          <p:nvPr>
            <p:ph idx="1" type="body"/>
          </p:nvPr>
        </p:nvSpPr>
        <p:spPr>
          <a:xfrm>
            <a:off x="164276" y="852805"/>
            <a:ext cx="11829802" cy="2472286"/>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26" name="Google Shape;326;p69"/>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820">
                <a:solidFill>
                  <a:schemeClr val="lt1"/>
                </a:solidFill>
                <a:latin typeface="Open Sans"/>
                <a:ea typeface="Open Sans"/>
                <a:cs typeface="Open Sans"/>
                <a:sym typeface="Open Sans"/>
              </a:rPr>
              <a:t>Moving Our Thinking Forward</a:t>
            </a:r>
            <a:endParaRPr sz="2820">
              <a:solidFill>
                <a:schemeClr val="lt1"/>
              </a:solidFill>
              <a:latin typeface="Open Sans"/>
              <a:ea typeface="Open Sans"/>
              <a:cs typeface="Open Sans"/>
              <a:sym typeface="Open Sans"/>
            </a:endParaRPr>
          </a:p>
          <a:p>
            <a:pPr indent="0" lvl="0" marL="0" rtl="0" algn="l">
              <a:lnSpc>
                <a:spcPct val="100000"/>
              </a:lnSpc>
              <a:spcBef>
                <a:spcPts val="0"/>
              </a:spcBef>
              <a:spcAft>
                <a:spcPts val="0"/>
              </a:spcAft>
              <a:buSzPts val="990"/>
              <a:buNone/>
            </a:pPr>
            <a:r>
              <a:t/>
            </a:r>
            <a:endParaRPr b="1" sz="2520">
              <a:solidFill>
                <a:schemeClr val="lt1"/>
              </a:solidFill>
              <a:latin typeface="Open Sans"/>
              <a:ea typeface="Open Sans"/>
              <a:cs typeface="Open Sans"/>
              <a:sym typeface="Open Sans"/>
            </a:endParaRPr>
          </a:p>
        </p:txBody>
      </p:sp>
      <p:sp>
        <p:nvSpPr>
          <p:cNvPr id="327" name="Google Shape;327;p69"/>
          <p:cNvSpPr txBox="1"/>
          <p:nvPr/>
        </p:nvSpPr>
        <p:spPr>
          <a:xfrm>
            <a:off x="2182675" y="1649905"/>
            <a:ext cx="8386363" cy="1458831"/>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2400" u="none" cap="none" strike="noStrike">
                <a:solidFill>
                  <a:srgbClr val="304852"/>
                </a:solidFill>
                <a:latin typeface="Cabin"/>
                <a:ea typeface="Cabin"/>
                <a:cs typeface="Cabin"/>
                <a:sym typeface="Cabin"/>
              </a:rPr>
              <a:t>What do you want to try to do in your discussions over the next 2 days that could really help push both your thinking and others’ thinking forward?</a:t>
            </a:r>
            <a:endParaRPr b="0" i="0" sz="2400" u="none" cap="none" strike="noStrike">
              <a:solidFill>
                <a:srgbClr val="304852"/>
              </a:solidFill>
              <a:latin typeface="Cabin"/>
              <a:ea typeface="Cabin"/>
              <a:cs typeface="Cabin"/>
              <a:sym typeface="Cabin"/>
            </a:endParaRPr>
          </a:p>
        </p:txBody>
      </p:sp>
      <p:sp>
        <p:nvSpPr>
          <p:cNvPr id="328" name="Google Shape;328;p69"/>
          <p:cNvSpPr txBox="1"/>
          <p:nvPr/>
        </p:nvSpPr>
        <p:spPr>
          <a:xfrm>
            <a:off x="2174326" y="1048530"/>
            <a:ext cx="44127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On your own</a:t>
            </a:r>
            <a:endParaRPr b="0" i="0" sz="2600" u="none" cap="none" strike="noStrike">
              <a:solidFill>
                <a:srgbClr val="000000"/>
              </a:solidFill>
              <a:latin typeface="Open Sans"/>
              <a:ea typeface="Open Sans"/>
              <a:cs typeface="Open Sans"/>
              <a:sym typeface="Open Sans"/>
            </a:endParaRPr>
          </a:p>
        </p:txBody>
      </p:sp>
      <p:pic>
        <p:nvPicPr>
          <p:cNvPr id="329" name="Google Shape;329;p69"/>
          <p:cNvPicPr preferRelativeResize="0"/>
          <p:nvPr/>
        </p:nvPicPr>
        <p:blipFill rotWithShape="1">
          <a:blip r:embed="rId3">
            <a:alphaModFix/>
          </a:blip>
          <a:srcRect b="0" l="0" r="0" t="0"/>
          <a:stretch/>
        </p:blipFill>
        <p:spPr>
          <a:xfrm>
            <a:off x="515276" y="1116030"/>
            <a:ext cx="1508700" cy="1626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70"/>
          <p:cNvSpPr txBox="1"/>
          <p:nvPr>
            <p:ph idx="1" type="body"/>
          </p:nvPr>
        </p:nvSpPr>
        <p:spPr>
          <a:xfrm>
            <a:off x="211775" y="810444"/>
            <a:ext cx="11768450" cy="4711582"/>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35" name="Google Shape;335;p70"/>
          <p:cNvSpPr txBox="1"/>
          <p:nvPr>
            <p:ph type="title"/>
          </p:nvPr>
        </p:nvSpPr>
        <p:spPr>
          <a:xfrm>
            <a:off x="0" y="-18439"/>
            <a:ext cx="12192000" cy="6861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820">
                <a:solidFill>
                  <a:schemeClr val="lt1"/>
                </a:solidFill>
                <a:latin typeface="Open Sans"/>
                <a:ea typeface="Open Sans"/>
                <a:cs typeface="Open Sans"/>
                <a:sym typeface="Open Sans"/>
              </a:rPr>
              <a:t>Simulate Plate Interactions along Boundaries (L4 Notes) </a:t>
            </a:r>
            <a:endParaRPr sz="2820">
              <a:solidFill>
                <a:schemeClr val="lt1"/>
              </a:solidFill>
              <a:latin typeface="Open Sans"/>
              <a:ea typeface="Open Sans"/>
              <a:cs typeface="Open Sans"/>
              <a:sym typeface="Open Sans"/>
            </a:endParaRPr>
          </a:p>
          <a:p>
            <a:pPr indent="0" lvl="0" marL="0" rtl="0" algn="l">
              <a:lnSpc>
                <a:spcPct val="100000"/>
              </a:lnSpc>
              <a:spcBef>
                <a:spcPts val="0"/>
              </a:spcBef>
              <a:spcAft>
                <a:spcPts val="0"/>
              </a:spcAft>
              <a:buSzPts val="990"/>
              <a:buNone/>
            </a:pPr>
            <a:r>
              <a:t/>
            </a:r>
            <a:endParaRPr b="1" sz="2520">
              <a:solidFill>
                <a:schemeClr val="lt1"/>
              </a:solidFill>
              <a:latin typeface="Open Sans"/>
              <a:ea typeface="Open Sans"/>
              <a:cs typeface="Open Sans"/>
              <a:sym typeface="Open Sans"/>
            </a:endParaRPr>
          </a:p>
        </p:txBody>
      </p:sp>
      <p:sp>
        <p:nvSpPr>
          <p:cNvPr id="336" name="Google Shape;336;p70"/>
          <p:cNvSpPr txBox="1"/>
          <p:nvPr/>
        </p:nvSpPr>
        <p:spPr>
          <a:xfrm>
            <a:off x="2221824" y="1456176"/>
            <a:ext cx="9457911" cy="106949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2500" u="none" cap="none" strike="noStrike">
                <a:solidFill>
                  <a:srgbClr val="304852"/>
                </a:solidFill>
                <a:latin typeface="Cabin"/>
                <a:ea typeface="Cabin"/>
                <a:cs typeface="Cabin"/>
                <a:sym typeface="Cabin"/>
              </a:rPr>
              <a:t>How do the edges of the foam in image A better represent the structure of the plates along their edges than image B?</a:t>
            </a:r>
            <a:endParaRPr b="0" i="0" sz="2300" u="none" cap="none" strike="noStrike">
              <a:solidFill>
                <a:srgbClr val="304852"/>
              </a:solidFill>
              <a:latin typeface="Cabin"/>
              <a:ea typeface="Cabin"/>
              <a:cs typeface="Cabin"/>
              <a:sym typeface="Cabin"/>
            </a:endParaRPr>
          </a:p>
        </p:txBody>
      </p:sp>
      <p:sp>
        <p:nvSpPr>
          <p:cNvPr id="337" name="Google Shape;337;p70"/>
          <p:cNvSpPr txBox="1"/>
          <p:nvPr/>
        </p:nvSpPr>
        <p:spPr>
          <a:xfrm>
            <a:off x="2221825" y="930994"/>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000000"/>
              </a:solidFill>
              <a:latin typeface="Open Sans"/>
              <a:ea typeface="Open Sans"/>
              <a:cs typeface="Open Sans"/>
              <a:sym typeface="Open Sans"/>
            </a:endParaRPr>
          </a:p>
        </p:txBody>
      </p:sp>
      <p:pic>
        <p:nvPicPr>
          <p:cNvPr id="338" name="Google Shape;338;p70"/>
          <p:cNvPicPr preferRelativeResize="0"/>
          <p:nvPr/>
        </p:nvPicPr>
        <p:blipFill rotWithShape="1">
          <a:blip r:embed="rId3">
            <a:alphaModFix/>
          </a:blip>
          <a:srcRect b="0" l="0" r="0" t="0"/>
          <a:stretch/>
        </p:blipFill>
        <p:spPr>
          <a:xfrm>
            <a:off x="512264" y="1048619"/>
            <a:ext cx="1457325" cy="1485900"/>
          </a:xfrm>
          <a:prstGeom prst="rect">
            <a:avLst/>
          </a:prstGeom>
          <a:noFill/>
          <a:ln>
            <a:noFill/>
          </a:ln>
        </p:spPr>
      </p:pic>
      <p:grpSp>
        <p:nvGrpSpPr>
          <p:cNvPr id="339" name="Google Shape;339;p70"/>
          <p:cNvGrpSpPr/>
          <p:nvPr/>
        </p:nvGrpSpPr>
        <p:grpSpPr>
          <a:xfrm>
            <a:off x="2221824" y="2534519"/>
            <a:ext cx="2620861" cy="2762892"/>
            <a:chOff x="1949426" y="3064218"/>
            <a:chExt cx="2620861" cy="2762892"/>
          </a:xfrm>
        </p:grpSpPr>
        <p:pic>
          <p:nvPicPr>
            <p:cNvPr id="340" name="Google Shape;340;p70"/>
            <p:cNvPicPr preferRelativeResize="0"/>
            <p:nvPr/>
          </p:nvPicPr>
          <p:blipFill rotWithShape="1">
            <a:blip r:embed="rId4">
              <a:alphaModFix/>
            </a:blip>
            <a:srcRect b="0" l="0" r="0" t="0"/>
            <a:stretch/>
          </p:blipFill>
          <p:spPr>
            <a:xfrm>
              <a:off x="1969590" y="3083910"/>
              <a:ext cx="2600697" cy="2743200"/>
            </a:xfrm>
            <a:prstGeom prst="rect">
              <a:avLst/>
            </a:prstGeom>
            <a:noFill/>
            <a:ln cap="flat" cmpd="sng" w="19050">
              <a:solidFill>
                <a:srgbClr val="304852"/>
              </a:solidFill>
              <a:prstDash val="solid"/>
              <a:round/>
              <a:headEnd len="sm" w="sm" type="none"/>
              <a:tailEnd len="sm" w="sm" type="none"/>
            </a:ln>
          </p:spPr>
        </p:pic>
        <p:sp>
          <p:nvSpPr>
            <p:cNvPr id="341" name="Google Shape;341;p70"/>
            <p:cNvSpPr txBox="1"/>
            <p:nvPr/>
          </p:nvSpPr>
          <p:spPr>
            <a:xfrm>
              <a:off x="1949426" y="3064218"/>
              <a:ext cx="393918" cy="538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1" i="0" lang="en" sz="2300" u="none" cap="none" strike="noStrike">
                  <a:solidFill>
                    <a:schemeClr val="dk1"/>
                  </a:solidFill>
                  <a:latin typeface="Arial"/>
                  <a:ea typeface="Arial"/>
                  <a:cs typeface="Arial"/>
                  <a:sym typeface="Arial"/>
                </a:rPr>
                <a:t>A</a:t>
              </a:r>
              <a:endParaRPr b="1" i="0" sz="2300" u="none" cap="none" strike="noStrike">
                <a:solidFill>
                  <a:schemeClr val="dk1"/>
                </a:solidFill>
                <a:latin typeface="Arial"/>
                <a:ea typeface="Arial"/>
                <a:cs typeface="Arial"/>
                <a:sym typeface="Arial"/>
              </a:endParaRPr>
            </a:p>
          </p:txBody>
        </p:sp>
      </p:grpSp>
      <p:pic>
        <p:nvPicPr>
          <p:cNvPr id="342" name="Google Shape;342;p70"/>
          <p:cNvPicPr preferRelativeResize="0"/>
          <p:nvPr/>
        </p:nvPicPr>
        <p:blipFill rotWithShape="1">
          <a:blip r:embed="rId5">
            <a:alphaModFix/>
          </a:blip>
          <a:srcRect b="45678" l="34342" r="45171" t="24308"/>
          <a:stretch/>
        </p:blipFill>
        <p:spPr>
          <a:xfrm>
            <a:off x="8484683" y="2554211"/>
            <a:ext cx="2752607" cy="2743200"/>
          </a:xfrm>
          <a:prstGeom prst="rect">
            <a:avLst/>
          </a:prstGeom>
          <a:noFill/>
          <a:ln cap="flat" cmpd="sng" w="19050">
            <a:solidFill>
              <a:srgbClr val="304852"/>
            </a:solidFill>
            <a:prstDash val="solid"/>
            <a:round/>
            <a:headEnd len="sm" w="sm" type="none"/>
            <a:tailEnd len="sm" w="sm" type="none"/>
          </a:ln>
        </p:spPr>
      </p:pic>
      <p:grpSp>
        <p:nvGrpSpPr>
          <p:cNvPr id="343" name="Google Shape;343;p70"/>
          <p:cNvGrpSpPr/>
          <p:nvPr/>
        </p:nvGrpSpPr>
        <p:grpSpPr>
          <a:xfrm>
            <a:off x="5363341" y="2534519"/>
            <a:ext cx="2600685" cy="2784781"/>
            <a:chOff x="5952951" y="3324768"/>
            <a:chExt cx="2600685" cy="2784781"/>
          </a:xfrm>
        </p:grpSpPr>
        <p:pic>
          <p:nvPicPr>
            <p:cNvPr id="344" name="Google Shape;344;p70"/>
            <p:cNvPicPr preferRelativeResize="0"/>
            <p:nvPr/>
          </p:nvPicPr>
          <p:blipFill rotWithShape="1">
            <a:blip r:embed="rId6">
              <a:alphaModFix/>
            </a:blip>
            <a:srcRect b="0" l="0" r="0" t="0"/>
            <a:stretch/>
          </p:blipFill>
          <p:spPr>
            <a:xfrm>
              <a:off x="5952952" y="3366349"/>
              <a:ext cx="2600684" cy="2743200"/>
            </a:xfrm>
            <a:prstGeom prst="rect">
              <a:avLst/>
            </a:prstGeom>
            <a:noFill/>
            <a:ln cap="flat" cmpd="sng" w="19050">
              <a:solidFill>
                <a:srgbClr val="304852"/>
              </a:solidFill>
              <a:prstDash val="solid"/>
              <a:round/>
              <a:headEnd len="sm" w="sm" type="none"/>
              <a:tailEnd len="sm" w="sm" type="none"/>
            </a:ln>
          </p:spPr>
        </p:pic>
        <p:sp>
          <p:nvSpPr>
            <p:cNvPr id="345" name="Google Shape;345;p70"/>
            <p:cNvSpPr txBox="1"/>
            <p:nvPr/>
          </p:nvSpPr>
          <p:spPr>
            <a:xfrm>
              <a:off x="5952951" y="3324768"/>
              <a:ext cx="402955" cy="538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1" i="0" lang="en" sz="2300" u="none" cap="none" strike="noStrike">
                  <a:solidFill>
                    <a:schemeClr val="dk1"/>
                  </a:solidFill>
                  <a:latin typeface="Arial"/>
                  <a:ea typeface="Arial"/>
                  <a:cs typeface="Arial"/>
                  <a:sym typeface="Arial"/>
                </a:rPr>
                <a:t>B</a:t>
              </a:r>
              <a:endParaRPr b="1" i="0" sz="2300" u="none" cap="none" strike="noStrike">
                <a:solidFill>
                  <a:schemeClr val="dk1"/>
                </a:solidFill>
                <a:latin typeface="Arial"/>
                <a:ea typeface="Arial"/>
                <a:cs typeface="Arial"/>
                <a:sym typeface="Arial"/>
              </a:endParaRPr>
            </a:p>
          </p:txBody>
        </p:sp>
      </p:grpSp>
      <p:sp>
        <p:nvSpPr>
          <p:cNvPr id="346" name="Google Shape;346;p70"/>
          <p:cNvSpPr txBox="1"/>
          <p:nvPr/>
        </p:nvSpPr>
        <p:spPr>
          <a:xfrm>
            <a:off x="143694" y="5590730"/>
            <a:ext cx="117684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400" u="none" cap="none" strike="noStrike">
                <a:solidFill>
                  <a:schemeClr val="lt1"/>
                </a:solidFill>
                <a:latin typeface="Cabin"/>
                <a:ea typeface="Cabin"/>
                <a:cs typeface="Cabin"/>
                <a:sym typeface="Cabin"/>
              </a:rPr>
              <a:t>Every </a:t>
            </a:r>
            <a:r>
              <a:rPr b="0" i="0" lang="en" sz="2400" u="none" cap="none" strike="noStrike">
                <a:solidFill>
                  <a:srgbClr val="FFFF00"/>
                </a:solidFill>
                <a:latin typeface="Cabin"/>
                <a:ea typeface="Cabin"/>
                <a:cs typeface="Cabin"/>
                <a:sym typeface="Cabin"/>
              </a:rPr>
              <a:t>model</a:t>
            </a:r>
            <a:r>
              <a:rPr b="0" i="0" lang="en" sz="2400" u="none" cap="none" strike="noStrike">
                <a:solidFill>
                  <a:schemeClr val="lt1"/>
                </a:solidFill>
                <a:latin typeface="Cabin"/>
                <a:ea typeface="Cabin"/>
                <a:cs typeface="Cabin"/>
                <a:sym typeface="Cabin"/>
              </a:rPr>
              <a:t> has </a:t>
            </a:r>
            <a:r>
              <a:rPr b="1" i="0" lang="en" sz="2400" u="none" cap="none" strike="noStrike">
                <a:solidFill>
                  <a:srgbClr val="FFFF00"/>
                </a:solidFill>
                <a:latin typeface="Cabin"/>
                <a:ea typeface="Cabin"/>
                <a:cs typeface="Cabin"/>
                <a:sym typeface="Cabin"/>
              </a:rPr>
              <a:t>advantages</a:t>
            </a:r>
            <a:r>
              <a:rPr b="0" i="0" lang="en" sz="2400" u="none" cap="none" strike="noStrike">
                <a:solidFill>
                  <a:schemeClr val="lt1"/>
                </a:solidFill>
                <a:latin typeface="Cabin"/>
                <a:ea typeface="Cabin"/>
                <a:cs typeface="Cabin"/>
                <a:sym typeface="Cabin"/>
              </a:rPr>
              <a:t> and</a:t>
            </a:r>
            <a:r>
              <a:rPr b="1" i="0" lang="en" sz="2400" u="none" cap="none" strike="noStrike">
                <a:solidFill>
                  <a:srgbClr val="FFFF00"/>
                </a:solidFill>
                <a:latin typeface="Cabin"/>
                <a:ea typeface="Cabin"/>
                <a:cs typeface="Cabin"/>
                <a:sym typeface="Cabin"/>
              </a:rPr>
              <a:t> limitations</a:t>
            </a:r>
            <a:r>
              <a:rPr b="0" i="0" lang="en" sz="2400" u="none" cap="none" strike="noStrike">
                <a:solidFill>
                  <a:schemeClr val="lt1"/>
                </a:solidFill>
                <a:latin typeface="Cabin"/>
                <a:ea typeface="Cabin"/>
                <a:cs typeface="Cabin"/>
                <a:sym typeface="Cabin"/>
              </a:rPr>
              <a:t>. Understanding these can help us move more flexibly between different types of models for explaining </a:t>
            </a:r>
            <a:r>
              <a:rPr b="1" i="0" lang="en" sz="2400" u="none" cap="none" strike="noStrike">
                <a:solidFill>
                  <a:srgbClr val="FFFF00"/>
                </a:solidFill>
                <a:latin typeface="Cabin"/>
                <a:ea typeface="Cabin"/>
                <a:cs typeface="Cabin"/>
                <a:sym typeface="Cabin"/>
              </a:rPr>
              <a:t>how and why phenomena</a:t>
            </a:r>
            <a:r>
              <a:rPr b="0" i="0" lang="en" sz="2400" u="none" cap="none" strike="noStrike">
                <a:solidFill>
                  <a:schemeClr val="lt1"/>
                </a:solidFill>
                <a:latin typeface="Cabin"/>
                <a:ea typeface="Cabin"/>
                <a:cs typeface="Cabin"/>
                <a:sym typeface="Cabin"/>
              </a:rPr>
              <a:t> occur.</a:t>
            </a:r>
            <a:endParaRPr b="0" i="0" sz="2400" u="none" cap="none" strike="noStrike">
              <a:solidFill>
                <a:schemeClr val="lt1"/>
              </a:solidFill>
              <a:latin typeface="Cabin"/>
              <a:ea typeface="Cabin"/>
              <a:cs typeface="Cabin"/>
              <a:sym typeface="Cab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71"/>
          <p:cNvSpPr txBox="1"/>
          <p:nvPr>
            <p:ph idx="1" type="body"/>
          </p:nvPr>
        </p:nvSpPr>
        <p:spPr>
          <a:xfrm>
            <a:off x="152400" y="835980"/>
            <a:ext cx="11877304" cy="5873519"/>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52" name="Google Shape;352;p71"/>
          <p:cNvSpPr txBox="1"/>
          <p:nvPr/>
        </p:nvSpPr>
        <p:spPr>
          <a:xfrm>
            <a:off x="301054" y="892954"/>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000000"/>
              </a:solidFill>
              <a:latin typeface="Open Sans"/>
              <a:ea typeface="Open Sans"/>
              <a:cs typeface="Open Sans"/>
              <a:sym typeface="Open Sans"/>
            </a:endParaRPr>
          </a:p>
        </p:txBody>
      </p:sp>
      <p:sp>
        <p:nvSpPr>
          <p:cNvPr id="353" name="Google Shape;353;p71"/>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Develop and Use a Model </a:t>
            </a:r>
            <a:r>
              <a:rPr b="1" lang="en" u="sng">
                <a:solidFill>
                  <a:schemeClr val="hlink"/>
                </a:solidFill>
                <a:latin typeface="Open Sans"/>
                <a:ea typeface="Open Sans"/>
                <a:cs typeface="Open Sans"/>
                <a:sym typeface="Open Sans"/>
                <a:hlinkClick r:id="rId3"/>
              </a:rPr>
              <a:t>Link to Video</a:t>
            </a:r>
            <a:endParaRPr>
              <a:solidFill>
                <a:schemeClr val="lt1"/>
              </a:solidFill>
            </a:endParaRPr>
          </a:p>
        </p:txBody>
      </p:sp>
      <p:sp>
        <p:nvSpPr>
          <p:cNvPr id="354" name="Google Shape;354;p71"/>
          <p:cNvSpPr txBox="1"/>
          <p:nvPr/>
        </p:nvSpPr>
        <p:spPr>
          <a:xfrm>
            <a:off x="288629" y="4764996"/>
            <a:ext cx="2881670" cy="2100288"/>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i="0" lang="en" sz="2600" u="none" cap="none" strike="noStrike">
                <a:solidFill>
                  <a:srgbClr val="304852"/>
                </a:solidFill>
                <a:latin typeface="Open Sans"/>
                <a:ea typeface="Open Sans"/>
                <a:cs typeface="Open Sans"/>
                <a:sym typeface="Open Sans"/>
              </a:rPr>
              <a:t>Turn and Talk</a:t>
            </a:r>
            <a:endParaRPr b="1" i="0" sz="2600" u="none" cap="none" strike="noStrike">
              <a:solidFill>
                <a:srgbClr val="304852"/>
              </a:solidFill>
              <a:latin typeface="Open Sans"/>
              <a:ea typeface="Open Sans"/>
              <a:cs typeface="Open Sans"/>
              <a:sym typeface="Open Sans"/>
            </a:endParaRPr>
          </a:p>
          <a:p>
            <a:pPr indent="-387350" lvl="0" marL="457200" marR="0" rtl="0" algn="l">
              <a:lnSpc>
                <a:spcPct val="115000"/>
              </a:lnSpc>
              <a:spcBef>
                <a:spcPts val="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Discuss your answers to each prompt.</a:t>
            </a:r>
            <a:endParaRPr b="0" i="0" sz="2500" u="none" cap="none" strike="noStrike">
              <a:solidFill>
                <a:srgbClr val="000000"/>
              </a:solidFill>
              <a:latin typeface="Cabin"/>
              <a:ea typeface="Cabin"/>
              <a:cs typeface="Cabin"/>
              <a:sym typeface="Cabin"/>
            </a:endParaRPr>
          </a:p>
        </p:txBody>
      </p:sp>
      <p:sp>
        <p:nvSpPr>
          <p:cNvPr id="355" name="Google Shape;355;p71"/>
          <p:cNvSpPr txBox="1"/>
          <p:nvPr/>
        </p:nvSpPr>
        <p:spPr>
          <a:xfrm>
            <a:off x="288629" y="1292279"/>
            <a:ext cx="2881670" cy="3538118"/>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Play the video</a:t>
            </a:r>
            <a:r>
              <a:rPr b="0" i="0" lang="en" sz="2500" u="none" cap="none" strike="noStrike">
                <a:solidFill>
                  <a:srgbClr val="000000"/>
                </a:solidFill>
                <a:latin typeface="Cabin"/>
                <a:ea typeface="Cabin"/>
                <a:cs typeface="Cabin"/>
                <a:sym typeface="Cabin"/>
              </a:rPr>
              <a:t> with </a:t>
            </a:r>
            <a:r>
              <a:rPr b="0" i="0" lang="en" sz="2500" u="none" cap="none" strike="noStrike">
                <a:solidFill>
                  <a:srgbClr val="304852"/>
                </a:solidFill>
                <a:latin typeface="Cabin"/>
                <a:ea typeface="Cabin"/>
                <a:cs typeface="Cabin"/>
                <a:sym typeface="Cabin"/>
              </a:rPr>
              <a:t>the captions on.</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Pause the video when each prompt is displayed.</a:t>
            </a:r>
            <a:endParaRPr b="0" i="0" sz="2500" u="none" cap="none" strike="noStrike">
              <a:solidFill>
                <a:srgbClr val="304852"/>
              </a:solidFill>
              <a:latin typeface="Cabin"/>
              <a:ea typeface="Cabin"/>
              <a:cs typeface="Cabin"/>
              <a:sym typeface="Cabin"/>
            </a:endParaRPr>
          </a:p>
        </p:txBody>
      </p:sp>
      <p:pic>
        <p:nvPicPr>
          <p:cNvPr id="356" name="Google Shape;356;p71" title="P.2 Plate Interaction and Earthquake Demonstration"/>
          <p:cNvPicPr preferRelativeResize="0"/>
          <p:nvPr/>
        </p:nvPicPr>
        <p:blipFill rotWithShape="1">
          <a:blip r:embed="rId4">
            <a:alphaModFix/>
          </a:blip>
          <a:srcRect b="0" l="0" r="0" t="0"/>
          <a:stretch/>
        </p:blipFill>
        <p:spPr>
          <a:xfrm>
            <a:off x="3170299" y="1014462"/>
            <a:ext cx="8733072" cy="49341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72"/>
          <p:cNvSpPr txBox="1"/>
          <p:nvPr>
            <p:ph idx="1" type="body"/>
          </p:nvPr>
        </p:nvSpPr>
        <p:spPr>
          <a:xfrm>
            <a:off x="209550" y="868750"/>
            <a:ext cx="11772900" cy="367785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62" name="Google Shape;362;p72"/>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sz="3133">
                <a:solidFill>
                  <a:schemeClr val="lt1"/>
                </a:solidFill>
                <a:latin typeface="Open Sans"/>
                <a:ea typeface="Open Sans"/>
                <a:cs typeface="Open Sans"/>
                <a:sym typeface="Open Sans"/>
              </a:rPr>
              <a:t>Identify Model’s Advantages and Limitations</a:t>
            </a:r>
            <a:endParaRPr b="1">
              <a:solidFill>
                <a:schemeClr val="lt1"/>
              </a:solidFill>
              <a:latin typeface="Open Sans"/>
              <a:ea typeface="Open Sans"/>
              <a:cs typeface="Open Sans"/>
              <a:sym typeface="Open Sans"/>
            </a:endParaRPr>
          </a:p>
          <a:p>
            <a:pPr indent="0" lvl="0" marL="0" rtl="0" algn="l">
              <a:lnSpc>
                <a:spcPct val="100000"/>
              </a:lnSpc>
              <a:spcBef>
                <a:spcPts val="0"/>
              </a:spcBef>
              <a:spcAft>
                <a:spcPts val="0"/>
              </a:spcAft>
              <a:buSzPts val="2800"/>
              <a:buNone/>
            </a:pPr>
            <a:r>
              <a:t/>
            </a:r>
            <a:endParaRPr b="1">
              <a:solidFill>
                <a:schemeClr val="lt1"/>
              </a:solidFill>
              <a:latin typeface="Open Sans"/>
              <a:ea typeface="Open Sans"/>
              <a:cs typeface="Open Sans"/>
              <a:sym typeface="Open Sans"/>
            </a:endParaRPr>
          </a:p>
        </p:txBody>
      </p:sp>
      <p:sp>
        <p:nvSpPr>
          <p:cNvPr id="363" name="Google Shape;363;p72"/>
          <p:cNvSpPr txBox="1"/>
          <p:nvPr/>
        </p:nvSpPr>
        <p:spPr>
          <a:xfrm>
            <a:off x="2295800" y="1673232"/>
            <a:ext cx="9229450" cy="265326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First take a moment to consider how Model 1 helps us explain how/why any of our listed phenomena occur.</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Then evaluate the model’s advantages and limitations for helping to explain these phenomena through the particular lens you selected.</a:t>
            </a:r>
            <a:endParaRPr b="0" i="0" sz="2500" u="none" cap="none" strike="noStrike">
              <a:solidFill>
                <a:srgbClr val="304852"/>
              </a:solidFill>
              <a:latin typeface="Cabin"/>
              <a:ea typeface="Cabin"/>
              <a:cs typeface="Cabin"/>
              <a:sym typeface="Cabin"/>
            </a:endParaRPr>
          </a:p>
        </p:txBody>
      </p:sp>
      <p:sp>
        <p:nvSpPr>
          <p:cNvPr id="364" name="Google Shape;364;p72"/>
          <p:cNvSpPr txBox="1"/>
          <p:nvPr/>
        </p:nvSpPr>
        <p:spPr>
          <a:xfrm>
            <a:off x="2295800" y="944950"/>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On your own</a:t>
            </a:r>
            <a:endParaRPr b="0" i="0" sz="2600" u="none" cap="none" strike="noStrike">
              <a:solidFill>
                <a:srgbClr val="000000"/>
              </a:solidFill>
              <a:latin typeface="Open Sans"/>
              <a:ea typeface="Open Sans"/>
              <a:cs typeface="Open Sans"/>
              <a:sym typeface="Open Sans"/>
            </a:endParaRPr>
          </a:p>
        </p:txBody>
      </p:sp>
      <p:pic>
        <p:nvPicPr>
          <p:cNvPr id="365" name="Google Shape;365;p72"/>
          <p:cNvPicPr preferRelativeResize="0"/>
          <p:nvPr/>
        </p:nvPicPr>
        <p:blipFill rotWithShape="1">
          <a:blip r:embed="rId3">
            <a:alphaModFix/>
          </a:blip>
          <a:srcRect b="0" l="0" r="0" t="0"/>
          <a:stretch/>
        </p:blipFill>
        <p:spPr>
          <a:xfrm>
            <a:off x="544138" y="2623151"/>
            <a:ext cx="1665000" cy="1756241"/>
          </a:xfrm>
          <a:prstGeom prst="rect">
            <a:avLst/>
          </a:prstGeom>
          <a:noFill/>
          <a:ln cap="flat" cmpd="sng" w="19050">
            <a:solidFill>
              <a:srgbClr val="304852"/>
            </a:solidFill>
            <a:prstDash val="solid"/>
            <a:round/>
            <a:headEnd len="sm" w="sm" type="none"/>
            <a:tailEnd len="sm" w="sm" type="none"/>
          </a:ln>
        </p:spPr>
      </p:pic>
      <p:pic>
        <p:nvPicPr>
          <p:cNvPr id="366" name="Google Shape;366;p72"/>
          <p:cNvPicPr preferRelativeResize="0"/>
          <p:nvPr/>
        </p:nvPicPr>
        <p:blipFill rotWithShape="1">
          <a:blip r:embed="rId4">
            <a:alphaModFix/>
          </a:blip>
          <a:srcRect b="0" l="0" r="0" t="0"/>
          <a:stretch/>
        </p:blipFill>
        <p:spPr>
          <a:xfrm>
            <a:off x="666750" y="1041401"/>
            <a:ext cx="1146350" cy="1356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73"/>
          <p:cNvSpPr txBox="1"/>
          <p:nvPr>
            <p:ph idx="1" type="body"/>
          </p:nvPr>
        </p:nvSpPr>
        <p:spPr>
          <a:xfrm>
            <a:off x="214350" y="1933650"/>
            <a:ext cx="11763300" cy="348925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72" name="Google Shape;372;p73"/>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3133">
                <a:solidFill>
                  <a:schemeClr val="lt1"/>
                </a:solidFill>
                <a:latin typeface="Open Sans"/>
                <a:ea typeface="Open Sans"/>
                <a:cs typeface="Open Sans"/>
                <a:sym typeface="Open Sans"/>
              </a:rPr>
              <a:t>Identify Model’s Advantages and Limitations</a:t>
            </a:r>
            <a:endParaRPr b="1">
              <a:solidFill>
                <a:schemeClr val="lt1"/>
              </a:solidFill>
              <a:latin typeface="Open Sans"/>
              <a:ea typeface="Open Sans"/>
              <a:cs typeface="Open Sans"/>
              <a:sym typeface="Open Sans"/>
            </a:endParaRPr>
          </a:p>
        </p:txBody>
      </p:sp>
      <p:sp>
        <p:nvSpPr>
          <p:cNvPr id="373" name="Google Shape;373;p73"/>
          <p:cNvSpPr txBox="1"/>
          <p:nvPr/>
        </p:nvSpPr>
        <p:spPr>
          <a:xfrm>
            <a:off x="214350" y="825100"/>
            <a:ext cx="11469650" cy="1197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Plates can suddenly slip along where they are in contact with each other. The video claimed that this is the cause of many earthquakes along plate boundaries.</a:t>
            </a:r>
            <a:endParaRPr b="0" i="0" sz="2500" u="none" cap="none" strike="noStrike">
              <a:solidFill>
                <a:srgbClr val="304852"/>
              </a:solidFill>
              <a:latin typeface="Cabin"/>
              <a:ea typeface="Cabin"/>
              <a:cs typeface="Cabin"/>
              <a:sym typeface="Cabin"/>
            </a:endParaRPr>
          </a:p>
        </p:txBody>
      </p:sp>
      <p:sp>
        <p:nvSpPr>
          <p:cNvPr id="374" name="Google Shape;374;p73"/>
          <p:cNvSpPr txBox="1"/>
          <p:nvPr/>
        </p:nvSpPr>
        <p:spPr>
          <a:xfrm>
            <a:off x="2376799" y="1984250"/>
            <a:ext cx="9158861" cy="1683508"/>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i="0" lang="en" sz="2600" u="none" cap="none" strike="noStrike">
                <a:solidFill>
                  <a:srgbClr val="304852"/>
                </a:solidFill>
                <a:latin typeface="Open Sans"/>
                <a:ea typeface="Open Sans"/>
                <a:cs typeface="Open Sans"/>
                <a:sym typeface="Open Sans"/>
              </a:rPr>
              <a:t>With your class</a:t>
            </a:r>
            <a:endParaRPr b="1" i="0" sz="2600" u="none" cap="none" strike="noStrike">
              <a:solidFill>
                <a:srgbClr val="304852"/>
              </a:solidFill>
              <a:latin typeface="Open Sans"/>
              <a:ea typeface="Open Sans"/>
              <a:cs typeface="Open Sans"/>
              <a:sym typeface="Open Sans"/>
            </a:endParaRPr>
          </a:p>
          <a:p>
            <a:pPr indent="-387350" lvl="0" marL="457200" marR="0" rtl="0" algn="l">
              <a:lnSpc>
                <a:spcPct val="115000"/>
              </a:lnSpc>
              <a:spcBef>
                <a:spcPts val="12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must be happening to the matter at points of contact between the plates right before this occurs?</a:t>
            </a:r>
            <a:endParaRPr b="0" i="0" sz="2500" u="none" cap="none" strike="noStrike">
              <a:solidFill>
                <a:srgbClr val="304852"/>
              </a:solidFill>
              <a:latin typeface="Cabin"/>
              <a:ea typeface="Cabin"/>
              <a:cs typeface="Cabin"/>
              <a:sym typeface="Cabin"/>
            </a:endParaRPr>
          </a:p>
        </p:txBody>
      </p:sp>
      <p:pic>
        <p:nvPicPr>
          <p:cNvPr id="375" name="Google Shape;375;p73"/>
          <p:cNvPicPr preferRelativeResize="0"/>
          <p:nvPr/>
        </p:nvPicPr>
        <p:blipFill rotWithShape="1">
          <a:blip r:embed="rId3">
            <a:alphaModFix/>
          </a:blip>
          <a:srcRect b="0" l="0" r="0" t="0"/>
          <a:stretch/>
        </p:blipFill>
        <p:spPr>
          <a:xfrm>
            <a:off x="656339" y="2139800"/>
            <a:ext cx="1457325" cy="1485900"/>
          </a:xfrm>
          <a:prstGeom prst="rect">
            <a:avLst/>
          </a:prstGeom>
          <a:noFill/>
          <a:ln>
            <a:noFill/>
          </a:ln>
        </p:spPr>
      </p:pic>
      <p:sp>
        <p:nvSpPr>
          <p:cNvPr id="376" name="Google Shape;376;p73"/>
          <p:cNvSpPr txBox="1"/>
          <p:nvPr/>
        </p:nvSpPr>
        <p:spPr>
          <a:xfrm>
            <a:off x="2320300" y="3667758"/>
            <a:ext cx="9363699" cy="1511922"/>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304852"/>
              </a:buClr>
              <a:buSzPts val="2400"/>
              <a:buFont typeface="Cabin"/>
              <a:buChar char="●"/>
            </a:pPr>
            <a:r>
              <a:rPr b="0" i="0" lang="en" sz="2500" u="none" cap="none" strike="noStrike">
                <a:solidFill>
                  <a:srgbClr val="304852"/>
                </a:solidFill>
                <a:latin typeface="Cabin"/>
                <a:ea typeface="Cabin"/>
                <a:cs typeface="Cabin"/>
                <a:sym typeface="Cabin"/>
              </a:rPr>
              <a:t>Why, in most cases, would breaking, fracturing, or cracking tend to occur at points along the edge of the plate instead of farther back, away from the edge?</a:t>
            </a:r>
            <a:endParaRPr b="0" i="0" sz="25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74"/>
          <p:cNvSpPr txBox="1"/>
          <p:nvPr>
            <p:ph idx="1" type="body"/>
          </p:nvPr>
        </p:nvSpPr>
        <p:spPr>
          <a:xfrm>
            <a:off x="215900" y="2123700"/>
            <a:ext cx="11785600" cy="2610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82" name="Google Shape;382;p74"/>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Recall Particle Ideas from Prior Lessons</a:t>
            </a:r>
            <a:endParaRPr>
              <a:solidFill>
                <a:schemeClr val="lt1"/>
              </a:solidFill>
            </a:endParaRPr>
          </a:p>
        </p:txBody>
      </p:sp>
      <p:sp>
        <p:nvSpPr>
          <p:cNvPr id="383" name="Google Shape;383;p74"/>
          <p:cNvSpPr txBox="1"/>
          <p:nvPr/>
        </p:nvSpPr>
        <p:spPr>
          <a:xfrm>
            <a:off x="239750" y="878764"/>
            <a:ext cx="11380750" cy="1197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1" lang="en" sz="2500" u="none" cap="none" strike="noStrike">
                <a:solidFill>
                  <a:srgbClr val="304852"/>
                </a:solidFill>
                <a:latin typeface="Cabin"/>
                <a:ea typeface="Cabin"/>
                <a:cs typeface="Cabin"/>
                <a:sym typeface="Cabin"/>
              </a:rPr>
              <a:t>Particles </a:t>
            </a:r>
            <a:r>
              <a:rPr b="0" i="0" lang="en" sz="2500" u="none" cap="none" strike="noStrike">
                <a:solidFill>
                  <a:srgbClr val="304852"/>
                </a:solidFill>
                <a:latin typeface="Cabin"/>
                <a:ea typeface="Cabin"/>
                <a:cs typeface="Cabin"/>
                <a:sym typeface="Cabin"/>
              </a:rPr>
              <a:t>is a general name for the smallest pieces of matter represented in a model we develop or use.</a:t>
            </a:r>
            <a:endParaRPr b="0" i="0" sz="2500" u="none" cap="none" strike="noStrike">
              <a:solidFill>
                <a:srgbClr val="304852"/>
              </a:solidFill>
              <a:latin typeface="Cabin"/>
              <a:ea typeface="Cabin"/>
              <a:cs typeface="Cabin"/>
              <a:sym typeface="Cabin"/>
            </a:endParaRPr>
          </a:p>
        </p:txBody>
      </p:sp>
      <p:sp>
        <p:nvSpPr>
          <p:cNvPr id="384" name="Google Shape;384;p74"/>
          <p:cNvSpPr txBox="1"/>
          <p:nvPr/>
        </p:nvSpPr>
        <p:spPr>
          <a:xfrm>
            <a:off x="2378350" y="2279226"/>
            <a:ext cx="9077050" cy="1811748"/>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i="0" lang="en" sz="2600" u="none" cap="none" strike="noStrike">
                <a:solidFill>
                  <a:srgbClr val="304852"/>
                </a:solidFill>
                <a:latin typeface="Open Sans"/>
                <a:ea typeface="Open Sans"/>
                <a:cs typeface="Open Sans"/>
                <a:sym typeface="Open Sans"/>
              </a:rPr>
              <a:t>With your class</a:t>
            </a:r>
            <a:endParaRPr b="1" i="0" sz="2600" u="none" cap="none" strike="noStrike">
              <a:solidFill>
                <a:srgbClr val="304852"/>
              </a:solidFill>
              <a:latin typeface="Open Sans"/>
              <a:ea typeface="Open Sans"/>
              <a:cs typeface="Open Sans"/>
              <a:sym typeface="Open Sans"/>
            </a:endParaRPr>
          </a:p>
          <a:p>
            <a:pPr indent="0" lvl="0" marL="0" marR="0" rtl="0" algn="l">
              <a:lnSpc>
                <a:spcPct val="115000"/>
              </a:lnSpc>
              <a:spcBef>
                <a:spcPts val="1200"/>
              </a:spcBef>
              <a:spcAft>
                <a:spcPts val="1000"/>
              </a:spcAft>
              <a:buNone/>
            </a:pPr>
            <a:r>
              <a:rPr b="0" i="0" lang="en" sz="2500" u="none" cap="none" strike="noStrike">
                <a:solidFill>
                  <a:srgbClr val="304852"/>
                </a:solidFill>
                <a:latin typeface="Cabin"/>
                <a:ea typeface="Cabin"/>
                <a:cs typeface="Cabin"/>
                <a:sym typeface="Cabin"/>
              </a:rPr>
              <a:t>What names have we used to refer to those particles in our prior modeling work?</a:t>
            </a:r>
            <a:endParaRPr b="0" i="0" sz="2500" u="none" cap="none" strike="noStrike">
              <a:solidFill>
                <a:srgbClr val="304852"/>
              </a:solidFill>
              <a:latin typeface="Cabin"/>
              <a:ea typeface="Cabin"/>
              <a:cs typeface="Cabin"/>
              <a:sym typeface="Cabin"/>
            </a:endParaRPr>
          </a:p>
        </p:txBody>
      </p:sp>
      <p:pic>
        <p:nvPicPr>
          <p:cNvPr id="385" name="Google Shape;385;p74"/>
          <p:cNvPicPr preferRelativeResize="0"/>
          <p:nvPr/>
        </p:nvPicPr>
        <p:blipFill rotWithShape="1">
          <a:blip r:embed="rId3">
            <a:alphaModFix/>
          </a:blip>
          <a:srcRect b="0" l="0" r="0" t="0"/>
          <a:stretch/>
        </p:blipFill>
        <p:spPr>
          <a:xfrm>
            <a:off x="581689" y="2434775"/>
            <a:ext cx="1457325" cy="1485900"/>
          </a:xfrm>
          <a:prstGeom prst="rect">
            <a:avLst/>
          </a:prstGeom>
          <a:noFill/>
          <a:ln>
            <a:noFill/>
          </a:ln>
        </p:spPr>
      </p:pic>
      <p:sp>
        <p:nvSpPr>
          <p:cNvPr id="386" name="Google Shape;386;p74"/>
          <p:cNvSpPr txBox="1"/>
          <p:nvPr/>
        </p:nvSpPr>
        <p:spPr>
          <a:xfrm>
            <a:off x="717270" y="4889826"/>
            <a:ext cx="2416127" cy="1140282"/>
          </a:xfrm>
          <a:prstGeom prst="rect">
            <a:avLst/>
          </a:prstGeom>
          <a:solidFill>
            <a:srgbClr val="6699FF"/>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What particle-level changes are happening?</a:t>
            </a:r>
            <a:endParaRPr b="0" i="0" sz="1200" u="none" cap="none" strike="noStrike">
              <a:solidFill>
                <a:srgbClr val="304852"/>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75"/>
          <p:cNvSpPr txBox="1"/>
          <p:nvPr>
            <p:ph idx="1" type="body"/>
          </p:nvPr>
        </p:nvSpPr>
        <p:spPr>
          <a:xfrm>
            <a:off x="165100" y="850825"/>
            <a:ext cx="11861800" cy="45813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92" name="Google Shape;392;p75"/>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Switch to Small-Scale Interactions</a:t>
            </a:r>
            <a:endParaRPr>
              <a:solidFill>
                <a:schemeClr val="lt1"/>
              </a:solidFill>
            </a:endParaRPr>
          </a:p>
        </p:txBody>
      </p:sp>
      <p:sp>
        <p:nvSpPr>
          <p:cNvPr id="393" name="Google Shape;393;p75"/>
          <p:cNvSpPr txBox="1"/>
          <p:nvPr/>
        </p:nvSpPr>
        <p:spPr>
          <a:xfrm>
            <a:off x="2175150" y="1046550"/>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Turn and Talk </a:t>
            </a:r>
            <a:endParaRPr b="0" i="0" sz="2600" u="none" cap="none" strike="noStrike">
              <a:solidFill>
                <a:srgbClr val="000000"/>
              </a:solidFill>
              <a:latin typeface="Open Sans"/>
              <a:ea typeface="Open Sans"/>
              <a:cs typeface="Open Sans"/>
              <a:sym typeface="Open Sans"/>
            </a:endParaRPr>
          </a:p>
        </p:txBody>
      </p:sp>
      <p:sp>
        <p:nvSpPr>
          <p:cNvPr id="394" name="Google Shape;394;p75"/>
          <p:cNvSpPr txBox="1"/>
          <p:nvPr/>
        </p:nvSpPr>
        <p:spPr>
          <a:xfrm>
            <a:off x="2222650" y="1692150"/>
            <a:ext cx="8877150" cy="755305"/>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Pick one of the ideas below</a:t>
            </a:r>
            <a:endParaRPr b="0" i="0" sz="2500" u="none" cap="none" strike="noStrike">
              <a:solidFill>
                <a:srgbClr val="304852"/>
              </a:solidFill>
              <a:latin typeface="Cabin"/>
              <a:ea typeface="Cabin"/>
              <a:cs typeface="Cabin"/>
              <a:sym typeface="Cabin"/>
            </a:endParaRPr>
          </a:p>
        </p:txBody>
      </p:sp>
      <p:sp>
        <p:nvSpPr>
          <p:cNvPr id="395" name="Google Shape;395;p75"/>
          <p:cNvSpPr txBox="1"/>
          <p:nvPr/>
        </p:nvSpPr>
        <p:spPr>
          <a:xfrm>
            <a:off x="2175150" y="2322851"/>
            <a:ext cx="7505400" cy="1511922"/>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All solids elastically deform up to a point.</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Pieces of a solid can break off when the matter reaches its elastic limit.</a:t>
            </a:r>
            <a:endParaRPr b="0" i="0" sz="2500" u="none" cap="none" strike="noStrike">
              <a:solidFill>
                <a:srgbClr val="304852"/>
              </a:solidFill>
              <a:latin typeface="Cabin"/>
              <a:ea typeface="Cabin"/>
              <a:cs typeface="Cabin"/>
              <a:sym typeface="Cabin"/>
            </a:endParaRPr>
          </a:p>
        </p:txBody>
      </p:sp>
      <p:pic>
        <p:nvPicPr>
          <p:cNvPr id="396" name="Google Shape;396;p75"/>
          <p:cNvPicPr preferRelativeResize="0"/>
          <p:nvPr/>
        </p:nvPicPr>
        <p:blipFill rotWithShape="1">
          <a:blip r:embed="rId3">
            <a:alphaModFix/>
          </a:blip>
          <a:srcRect b="0" l="0" r="0" t="0"/>
          <a:stretch/>
        </p:blipFill>
        <p:spPr>
          <a:xfrm>
            <a:off x="564251" y="1145664"/>
            <a:ext cx="1419153" cy="1177187"/>
          </a:xfrm>
          <a:prstGeom prst="rect">
            <a:avLst/>
          </a:prstGeom>
          <a:noFill/>
          <a:ln>
            <a:noFill/>
          </a:ln>
        </p:spPr>
      </p:pic>
      <p:sp>
        <p:nvSpPr>
          <p:cNvPr id="397" name="Google Shape;397;p75"/>
          <p:cNvSpPr txBox="1"/>
          <p:nvPr/>
        </p:nvSpPr>
        <p:spPr>
          <a:xfrm>
            <a:off x="2175150" y="3789757"/>
            <a:ext cx="8877150" cy="176840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2500" u="none" cap="none" strike="noStrike">
                <a:solidFill>
                  <a:srgbClr val="304852"/>
                </a:solidFill>
                <a:latin typeface="Cabin"/>
                <a:ea typeface="Cabin"/>
                <a:cs typeface="Cabin"/>
                <a:sym typeface="Cabin"/>
              </a:rPr>
              <a:t>What is happening at the particle level that helps explain either of these behaviors of matter? </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1000"/>
              </a:spcAft>
              <a:buNone/>
            </a:pPr>
            <a:r>
              <a:rPr b="0" i="0" lang="en" sz="2500" u="none" cap="none" strike="noStrike">
                <a:solidFill>
                  <a:srgbClr val="304852"/>
                </a:solidFill>
                <a:latin typeface="Cabin"/>
                <a:ea typeface="Cabin"/>
                <a:cs typeface="Cabin"/>
                <a:sym typeface="Cabin"/>
              </a:rPr>
              <a:t>DRAW IT!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76"/>
          <p:cNvSpPr txBox="1"/>
          <p:nvPr>
            <p:ph idx="1" type="body"/>
          </p:nvPr>
        </p:nvSpPr>
        <p:spPr>
          <a:xfrm>
            <a:off x="165100" y="1668424"/>
            <a:ext cx="11874500" cy="4071975"/>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03" name="Google Shape;403;p76"/>
          <p:cNvSpPr txBox="1"/>
          <p:nvPr>
            <p:ph type="title"/>
          </p:nvPr>
        </p:nvSpPr>
        <p:spPr>
          <a:xfrm>
            <a:off x="-24450" y="25309"/>
            <a:ext cx="1221645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Compare Models of Bonds</a:t>
            </a:r>
            <a:endParaRPr>
              <a:solidFill>
                <a:schemeClr val="lt1"/>
              </a:solidFill>
            </a:endParaRPr>
          </a:p>
        </p:txBody>
      </p:sp>
      <p:sp>
        <p:nvSpPr>
          <p:cNvPr id="404" name="Google Shape;404;p76"/>
          <p:cNvSpPr txBox="1"/>
          <p:nvPr/>
        </p:nvSpPr>
        <p:spPr>
          <a:xfrm>
            <a:off x="2175150" y="2242282"/>
            <a:ext cx="9267550" cy="3352169"/>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i="0" lang="en" sz="2500" u="none" cap="none" strike="noStrike">
                <a:solidFill>
                  <a:srgbClr val="304852"/>
                </a:solidFill>
                <a:latin typeface="Cabin"/>
                <a:ea typeface="Cabin"/>
                <a:cs typeface="Cabin"/>
                <a:sym typeface="Cabin"/>
              </a:rPr>
              <a:t>Take a poll:</a:t>
            </a:r>
            <a:r>
              <a:rPr b="0" i="0" lang="en" sz="2500" u="none" cap="none" strike="noStrike">
                <a:solidFill>
                  <a:srgbClr val="304852"/>
                </a:solidFill>
                <a:latin typeface="Cabin"/>
                <a:ea typeface="Cabin"/>
                <a:cs typeface="Cabin"/>
                <a:sym typeface="Cabin"/>
              </a:rPr>
              <a:t> What does your own model suggest about what the bonds between the particles in a solid are like?</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They are like strings.</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They are like springs.</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They are like rigid sticks.</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They are like _________.</a:t>
            </a:r>
            <a:endParaRPr b="0" i="0" sz="2500" u="none" cap="none" strike="noStrike">
              <a:solidFill>
                <a:srgbClr val="304852"/>
              </a:solidFill>
              <a:latin typeface="Cabin"/>
              <a:ea typeface="Cabin"/>
              <a:cs typeface="Cabin"/>
              <a:sym typeface="Cabin"/>
            </a:endParaRPr>
          </a:p>
        </p:txBody>
      </p:sp>
      <p:sp>
        <p:nvSpPr>
          <p:cNvPr id="405" name="Google Shape;405;p76"/>
          <p:cNvSpPr txBox="1"/>
          <p:nvPr/>
        </p:nvSpPr>
        <p:spPr>
          <a:xfrm>
            <a:off x="2175150" y="1711975"/>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000000"/>
              </a:solidFill>
              <a:latin typeface="Open Sans"/>
              <a:ea typeface="Open Sans"/>
              <a:cs typeface="Open Sans"/>
              <a:sym typeface="Open Sans"/>
            </a:endParaRPr>
          </a:p>
        </p:txBody>
      </p:sp>
      <p:sp>
        <p:nvSpPr>
          <p:cNvPr id="406" name="Google Shape;406;p76"/>
          <p:cNvSpPr txBox="1"/>
          <p:nvPr/>
        </p:nvSpPr>
        <p:spPr>
          <a:xfrm>
            <a:off x="317499" y="656526"/>
            <a:ext cx="11419811" cy="1197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Bonds between atoms or molecules are often used to help explain some of the properties of matter.</a:t>
            </a:r>
            <a:endParaRPr b="0" i="0" sz="2500" u="none" cap="none" strike="noStrike">
              <a:solidFill>
                <a:srgbClr val="000000"/>
              </a:solidFill>
              <a:latin typeface="Cabin"/>
              <a:ea typeface="Cabin"/>
              <a:cs typeface="Cabin"/>
              <a:sym typeface="Cabin"/>
            </a:endParaRPr>
          </a:p>
        </p:txBody>
      </p:sp>
      <p:pic>
        <p:nvPicPr>
          <p:cNvPr id="407" name="Google Shape;407;p76"/>
          <p:cNvPicPr preferRelativeResize="0"/>
          <p:nvPr/>
        </p:nvPicPr>
        <p:blipFill rotWithShape="1">
          <a:blip r:embed="rId3">
            <a:alphaModFix/>
          </a:blip>
          <a:srcRect b="0" l="0" r="0" t="0"/>
          <a:stretch/>
        </p:blipFill>
        <p:spPr>
          <a:xfrm>
            <a:off x="454689" y="1832450"/>
            <a:ext cx="1457325" cy="1485900"/>
          </a:xfrm>
          <a:prstGeom prst="rect">
            <a:avLst/>
          </a:prstGeom>
          <a:noFill/>
          <a:ln>
            <a:noFill/>
          </a:ln>
        </p:spPr>
      </p:pic>
      <p:sp>
        <p:nvSpPr>
          <p:cNvPr id="408" name="Google Shape;408;p76"/>
          <p:cNvSpPr txBox="1"/>
          <p:nvPr/>
        </p:nvSpPr>
        <p:spPr>
          <a:xfrm>
            <a:off x="165101" y="5783950"/>
            <a:ext cx="11861800" cy="1162339"/>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1600" u="none" cap="none" strike="noStrike">
                <a:solidFill>
                  <a:schemeClr val="lt1"/>
                </a:solidFill>
                <a:latin typeface="Cabin"/>
                <a:ea typeface="Cabin"/>
                <a:cs typeface="Cabin"/>
                <a:sym typeface="Cabin"/>
              </a:rPr>
              <a:t>The second model we’re going to evaluate uses magnets to simulate the interactions between the nucleus of an atom and the electrons that produce bonds between atoms in a solid. As with Model 1, we’ll use a video to orient to Model 2 and discuss what is happening through any lens that you choose.</a:t>
            </a:r>
            <a:endParaRPr b="0" i="0" sz="2400" u="none" cap="none" strike="noStrike">
              <a:solidFill>
                <a:schemeClr val="lt1"/>
              </a:solidFill>
              <a:latin typeface="Cabin"/>
              <a:ea typeface="Cabin"/>
              <a:cs typeface="Cabin"/>
              <a:sym typeface="Cab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77"/>
          <p:cNvSpPr txBox="1"/>
          <p:nvPr>
            <p:ph idx="1" type="body"/>
          </p:nvPr>
        </p:nvSpPr>
        <p:spPr>
          <a:xfrm>
            <a:off x="152400" y="835980"/>
            <a:ext cx="11877304" cy="5873519"/>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14" name="Google Shape;414;p77"/>
          <p:cNvSpPr txBox="1"/>
          <p:nvPr/>
        </p:nvSpPr>
        <p:spPr>
          <a:xfrm>
            <a:off x="301054" y="892954"/>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000000"/>
              </a:solidFill>
              <a:latin typeface="Open Sans"/>
              <a:ea typeface="Open Sans"/>
              <a:cs typeface="Open Sans"/>
              <a:sym typeface="Open Sans"/>
            </a:endParaRPr>
          </a:p>
        </p:txBody>
      </p:sp>
      <p:sp>
        <p:nvSpPr>
          <p:cNvPr id="415" name="Google Shape;415;p77"/>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Develop and Use a Model </a:t>
            </a:r>
            <a:r>
              <a:rPr b="1" lang="en" u="sng">
                <a:solidFill>
                  <a:schemeClr val="hlink"/>
                </a:solidFill>
                <a:latin typeface="Open Sans"/>
                <a:ea typeface="Open Sans"/>
                <a:cs typeface="Open Sans"/>
                <a:sym typeface="Open Sans"/>
                <a:hlinkClick r:id="rId3"/>
              </a:rPr>
              <a:t>Link to Video </a:t>
            </a:r>
            <a:endParaRPr>
              <a:solidFill>
                <a:schemeClr val="lt1"/>
              </a:solidFill>
            </a:endParaRPr>
          </a:p>
        </p:txBody>
      </p:sp>
      <p:sp>
        <p:nvSpPr>
          <p:cNvPr id="416" name="Google Shape;416;p77"/>
          <p:cNvSpPr txBox="1"/>
          <p:nvPr/>
        </p:nvSpPr>
        <p:spPr>
          <a:xfrm>
            <a:off x="288629" y="4764996"/>
            <a:ext cx="2881670" cy="2100288"/>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i="0" lang="en" sz="2600" u="none" cap="none" strike="noStrike">
                <a:solidFill>
                  <a:srgbClr val="304852"/>
                </a:solidFill>
                <a:latin typeface="Open Sans"/>
                <a:ea typeface="Open Sans"/>
                <a:cs typeface="Open Sans"/>
                <a:sym typeface="Open Sans"/>
              </a:rPr>
              <a:t>Turn and Talk</a:t>
            </a:r>
            <a:endParaRPr b="1" i="0" sz="2600" u="none" cap="none" strike="noStrike">
              <a:solidFill>
                <a:srgbClr val="304852"/>
              </a:solidFill>
              <a:latin typeface="Open Sans"/>
              <a:ea typeface="Open Sans"/>
              <a:cs typeface="Open Sans"/>
              <a:sym typeface="Open Sans"/>
            </a:endParaRPr>
          </a:p>
          <a:p>
            <a:pPr indent="-387350" lvl="0" marL="457200" marR="0" rtl="0" algn="l">
              <a:lnSpc>
                <a:spcPct val="115000"/>
              </a:lnSpc>
              <a:spcBef>
                <a:spcPts val="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Discuss your answers to each prompt.</a:t>
            </a:r>
            <a:endParaRPr b="0" i="0" sz="2500" u="none" cap="none" strike="noStrike">
              <a:solidFill>
                <a:srgbClr val="000000"/>
              </a:solidFill>
              <a:latin typeface="Cabin"/>
              <a:ea typeface="Cabin"/>
              <a:cs typeface="Cabin"/>
              <a:sym typeface="Cabin"/>
            </a:endParaRPr>
          </a:p>
        </p:txBody>
      </p:sp>
      <p:sp>
        <p:nvSpPr>
          <p:cNvPr id="417" name="Google Shape;417;p77"/>
          <p:cNvSpPr txBox="1"/>
          <p:nvPr/>
        </p:nvSpPr>
        <p:spPr>
          <a:xfrm>
            <a:off x="288629" y="1292279"/>
            <a:ext cx="2881670" cy="3538118"/>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Play the video</a:t>
            </a:r>
            <a:r>
              <a:rPr b="0" i="0" lang="en" sz="2500" u="none" cap="none" strike="noStrike">
                <a:solidFill>
                  <a:srgbClr val="000000"/>
                </a:solidFill>
                <a:latin typeface="Cabin"/>
                <a:ea typeface="Cabin"/>
                <a:cs typeface="Cabin"/>
                <a:sym typeface="Cabin"/>
              </a:rPr>
              <a:t> with </a:t>
            </a:r>
            <a:r>
              <a:rPr b="0" i="0" lang="en" sz="2500" u="none" cap="none" strike="noStrike">
                <a:solidFill>
                  <a:srgbClr val="304852"/>
                </a:solidFill>
                <a:latin typeface="Cabin"/>
                <a:ea typeface="Cabin"/>
                <a:cs typeface="Cabin"/>
                <a:sym typeface="Cabin"/>
              </a:rPr>
              <a:t>the captions on.</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Pause the video when each prompt is displayed.</a:t>
            </a:r>
            <a:endParaRPr b="0" i="0" sz="2500" u="none" cap="none" strike="noStrike">
              <a:solidFill>
                <a:srgbClr val="304852"/>
              </a:solidFill>
              <a:latin typeface="Cabin"/>
              <a:ea typeface="Cabin"/>
              <a:cs typeface="Cabin"/>
              <a:sym typeface="Cabin"/>
            </a:endParaRPr>
          </a:p>
        </p:txBody>
      </p:sp>
      <p:pic>
        <p:nvPicPr>
          <p:cNvPr id="418" name="Google Shape;418;p77" title="P.2 Inverter Magnet Demonstration"/>
          <p:cNvPicPr preferRelativeResize="0"/>
          <p:nvPr/>
        </p:nvPicPr>
        <p:blipFill rotWithShape="1">
          <a:blip r:embed="rId4">
            <a:alphaModFix/>
          </a:blip>
          <a:srcRect b="0" l="0" r="0" t="0"/>
          <a:stretch/>
        </p:blipFill>
        <p:spPr>
          <a:xfrm>
            <a:off x="3256533" y="989772"/>
            <a:ext cx="8634413" cy="48784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
                                        <p:tgtEl>
                                          <p:spTgt spid="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78"/>
          <p:cNvSpPr txBox="1"/>
          <p:nvPr>
            <p:ph idx="1" type="body"/>
          </p:nvPr>
        </p:nvSpPr>
        <p:spPr>
          <a:xfrm>
            <a:off x="177800" y="843350"/>
            <a:ext cx="11798300" cy="5095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24" name="Google Shape;424;p78"/>
          <p:cNvSpPr txBox="1"/>
          <p:nvPr>
            <p:ph type="title"/>
          </p:nvPr>
        </p:nvSpPr>
        <p:spPr>
          <a:xfrm>
            <a:off x="0" y="-3387"/>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sz="3133">
                <a:solidFill>
                  <a:schemeClr val="lt1"/>
                </a:solidFill>
                <a:latin typeface="Open Sans"/>
                <a:ea typeface="Open Sans"/>
                <a:cs typeface="Open Sans"/>
                <a:sym typeface="Open Sans"/>
              </a:rPr>
              <a:t>Identify Model’s Advantages and Limitations</a:t>
            </a:r>
            <a:endParaRPr b="1">
              <a:solidFill>
                <a:schemeClr val="lt1"/>
              </a:solidFill>
              <a:latin typeface="Open Sans"/>
              <a:ea typeface="Open Sans"/>
              <a:cs typeface="Open Sans"/>
              <a:sym typeface="Open Sans"/>
            </a:endParaRPr>
          </a:p>
        </p:txBody>
      </p:sp>
      <p:sp>
        <p:nvSpPr>
          <p:cNvPr id="425" name="Google Shape;425;p78"/>
          <p:cNvSpPr txBox="1"/>
          <p:nvPr/>
        </p:nvSpPr>
        <p:spPr>
          <a:xfrm>
            <a:off x="1730650" y="1495426"/>
            <a:ext cx="10064550" cy="1162339"/>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Take a moment to consider how Model 2 helps us explain how/why any of the phenomena listed on the top of our sheet occur.</a:t>
            </a:r>
            <a:endParaRPr b="0" i="0" sz="2400" u="none" cap="none" strike="noStrike">
              <a:solidFill>
                <a:srgbClr val="304852"/>
              </a:solidFill>
              <a:latin typeface="Cabin"/>
              <a:ea typeface="Cabin"/>
              <a:cs typeface="Cabin"/>
              <a:sym typeface="Cabin"/>
            </a:endParaRPr>
          </a:p>
        </p:txBody>
      </p:sp>
      <p:sp>
        <p:nvSpPr>
          <p:cNvPr id="426" name="Google Shape;426;p78"/>
          <p:cNvSpPr txBox="1"/>
          <p:nvPr/>
        </p:nvSpPr>
        <p:spPr>
          <a:xfrm>
            <a:off x="1654450" y="919550"/>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On your own</a:t>
            </a:r>
            <a:endParaRPr b="0" i="0" sz="2600" u="none" cap="none" strike="noStrike">
              <a:solidFill>
                <a:srgbClr val="000000"/>
              </a:solidFill>
              <a:latin typeface="Open Sans"/>
              <a:ea typeface="Open Sans"/>
              <a:cs typeface="Open Sans"/>
              <a:sym typeface="Open Sans"/>
            </a:endParaRPr>
          </a:p>
        </p:txBody>
      </p:sp>
      <p:sp>
        <p:nvSpPr>
          <p:cNvPr id="427" name="Google Shape;427;p78"/>
          <p:cNvSpPr txBox="1"/>
          <p:nvPr/>
        </p:nvSpPr>
        <p:spPr>
          <a:xfrm>
            <a:off x="1730650" y="2453502"/>
            <a:ext cx="8730700" cy="1715311"/>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Record which lens you are using to evaluate Model 2.</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Evaluate the model’s advantages and limitations for helping to explain these phenomena through the lens you selected.</a:t>
            </a:r>
            <a:endParaRPr b="0" i="0" sz="2400" u="none" cap="none" strike="noStrike">
              <a:solidFill>
                <a:srgbClr val="304852"/>
              </a:solidFill>
              <a:latin typeface="Cabin"/>
              <a:ea typeface="Cabin"/>
              <a:cs typeface="Cabin"/>
              <a:sym typeface="Cabin"/>
            </a:endParaRPr>
          </a:p>
        </p:txBody>
      </p:sp>
      <p:pic>
        <p:nvPicPr>
          <p:cNvPr id="428" name="Google Shape;428;p78"/>
          <p:cNvPicPr preferRelativeResize="0"/>
          <p:nvPr/>
        </p:nvPicPr>
        <p:blipFill rotWithShape="1">
          <a:blip r:embed="rId3">
            <a:alphaModFix/>
          </a:blip>
          <a:srcRect b="0" l="0" r="0" t="0"/>
          <a:stretch/>
        </p:blipFill>
        <p:spPr>
          <a:xfrm>
            <a:off x="396800" y="4200236"/>
            <a:ext cx="2339414" cy="1596088"/>
          </a:xfrm>
          <a:prstGeom prst="rect">
            <a:avLst/>
          </a:prstGeom>
          <a:noFill/>
          <a:ln cap="flat" cmpd="sng" w="19050">
            <a:solidFill>
              <a:srgbClr val="304852"/>
            </a:solidFill>
            <a:prstDash val="solid"/>
            <a:round/>
            <a:headEnd len="sm" w="sm" type="none"/>
            <a:tailEnd len="sm" w="sm" type="none"/>
          </a:ln>
        </p:spPr>
      </p:pic>
      <p:pic>
        <p:nvPicPr>
          <p:cNvPr id="429" name="Google Shape;429;p78"/>
          <p:cNvPicPr preferRelativeResize="0"/>
          <p:nvPr/>
        </p:nvPicPr>
        <p:blipFill rotWithShape="1">
          <a:blip r:embed="rId4">
            <a:alphaModFix/>
          </a:blip>
          <a:srcRect b="0" l="0" r="0" t="0"/>
          <a:stretch/>
        </p:blipFill>
        <p:spPr>
          <a:xfrm>
            <a:off x="396800" y="1061676"/>
            <a:ext cx="1146350" cy="1356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9"/>
          <p:cNvSpPr txBox="1"/>
          <p:nvPr>
            <p:ph idx="1" type="body"/>
          </p:nvPr>
        </p:nvSpPr>
        <p:spPr>
          <a:xfrm>
            <a:off x="164122" y="844963"/>
            <a:ext cx="11852031" cy="4540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35" name="Google Shape;435;p79"/>
          <p:cNvSpPr txBox="1"/>
          <p:nvPr/>
        </p:nvSpPr>
        <p:spPr>
          <a:xfrm>
            <a:off x="2041598" y="1563363"/>
            <a:ext cx="9435294" cy="3352169"/>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parts and interactions would we need/want in a particle-level simulation to make progress on our questions?</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characteristics of the matter could affect some of these interactions?</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would we want to be able to visualize or measure in that simulation?</a:t>
            </a:r>
            <a:endParaRPr b="0" i="0" sz="2500" u="none" cap="none" strike="noStrike">
              <a:solidFill>
                <a:srgbClr val="304852"/>
              </a:solidFill>
              <a:latin typeface="Cabin"/>
              <a:ea typeface="Cabin"/>
              <a:cs typeface="Cabin"/>
              <a:sym typeface="Cabin"/>
            </a:endParaRPr>
          </a:p>
        </p:txBody>
      </p:sp>
      <p:sp>
        <p:nvSpPr>
          <p:cNvPr id="436" name="Google Shape;436;p79"/>
          <p:cNvSpPr txBox="1"/>
          <p:nvPr/>
        </p:nvSpPr>
        <p:spPr>
          <a:xfrm>
            <a:off x="2097973" y="964488"/>
            <a:ext cx="33192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000000"/>
              </a:solidFill>
              <a:latin typeface="Open Sans"/>
              <a:ea typeface="Open Sans"/>
              <a:cs typeface="Open Sans"/>
              <a:sym typeface="Open Sans"/>
            </a:endParaRPr>
          </a:p>
        </p:txBody>
      </p:sp>
      <p:sp>
        <p:nvSpPr>
          <p:cNvPr id="437" name="Google Shape;437;p79"/>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Navigate</a:t>
            </a:r>
            <a:endParaRPr>
              <a:solidFill>
                <a:schemeClr val="lt1"/>
              </a:solidFill>
            </a:endParaRPr>
          </a:p>
        </p:txBody>
      </p:sp>
      <p:pic>
        <p:nvPicPr>
          <p:cNvPr id="438" name="Google Shape;438;p79"/>
          <p:cNvPicPr preferRelativeResize="0"/>
          <p:nvPr/>
        </p:nvPicPr>
        <p:blipFill rotWithShape="1">
          <a:blip r:embed="rId3">
            <a:alphaModFix/>
          </a:blip>
          <a:srcRect b="0" l="0" r="0" t="0"/>
          <a:stretch/>
        </p:blipFill>
        <p:spPr>
          <a:xfrm>
            <a:off x="454073" y="1094039"/>
            <a:ext cx="1482575" cy="1511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80" title="P.2 Orientation Video to External Force Applied to a Solid Simulation"/>
          <p:cNvPicPr preferRelativeResize="0"/>
          <p:nvPr/>
        </p:nvPicPr>
        <p:blipFill rotWithShape="1">
          <a:blip r:embed="rId3">
            <a:alphaModFix/>
          </a:blip>
          <a:srcRect b="0" l="0" r="0" t="0"/>
          <a:stretch/>
        </p:blipFill>
        <p:spPr>
          <a:xfrm>
            <a:off x="2482726" y="686100"/>
            <a:ext cx="9542326" cy="5391427"/>
          </a:xfrm>
          <a:prstGeom prst="rect">
            <a:avLst/>
          </a:prstGeom>
          <a:noFill/>
          <a:ln>
            <a:noFill/>
          </a:ln>
        </p:spPr>
      </p:pic>
      <p:sp>
        <p:nvSpPr>
          <p:cNvPr id="444" name="Google Shape;444;p80"/>
          <p:cNvSpPr txBox="1"/>
          <p:nvPr>
            <p:ph idx="1" type="body"/>
          </p:nvPr>
        </p:nvSpPr>
        <p:spPr>
          <a:xfrm>
            <a:off x="105508" y="786347"/>
            <a:ext cx="2286000" cy="5291179"/>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45" name="Google Shape;445;p80"/>
          <p:cNvSpPr txBox="1"/>
          <p:nvPr/>
        </p:nvSpPr>
        <p:spPr>
          <a:xfrm>
            <a:off x="196726" y="2615446"/>
            <a:ext cx="2745766" cy="69246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000" u="none" cap="none" strike="noStrike">
                <a:solidFill>
                  <a:srgbClr val="304852"/>
                </a:solidFill>
                <a:latin typeface="Open Sans"/>
                <a:ea typeface="Open Sans"/>
                <a:cs typeface="Open Sans"/>
                <a:sym typeface="Open Sans"/>
              </a:rPr>
              <a:t>With your class</a:t>
            </a:r>
            <a:endParaRPr b="0" i="0" sz="2000" u="none" cap="none" strike="noStrike">
              <a:solidFill>
                <a:srgbClr val="000000"/>
              </a:solidFill>
              <a:latin typeface="Open Sans"/>
              <a:ea typeface="Open Sans"/>
              <a:cs typeface="Open Sans"/>
              <a:sym typeface="Open Sans"/>
            </a:endParaRPr>
          </a:p>
        </p:txBody>
      </p:sp>
      <p:pic>
        <p:nvPicPr>
          <p:cNvPr id="446" name="Google Shape;446;p80"/>
          <p:cNvPicPr preferRelativeResize="0"/>
          <p:nvPr/>
        </p:nvPicPr>
        <p:blipFill rotWithShape="1">
          <a:blip r:embed="rId4">
            <a:alphaModFix/>
          </a:blip>
          <a:srcRect b="0" l="0" r="0" t="0"/>
          <a:stretch/>
        </p:blipFill>
        <p:spPr>
          <a:xfrm>
            <a:off x="254781" y="1011978"/>
            <a:ext cx="1482575" cy="1511675"/>
          </a:xfrm>
          <a:prstGeom prst="rect">
            <a:avLst/>
          </a:prstGeom>
          <a:noFill/>
          <a:ln>
            <a:noFill/>
          </a:ln>
        </p:spPr>
      </p:pic>
      <p:sp>
        <p:nvSpPr>
          <p:cNvPr id="447" name="Google Shape;447;p80"/>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Plan to Carry Out an Investigation (find link @ Schoology Message)</a:t>
            </a:r>
            <a:endParaRPr>
              <a:solidFill>
                <a:schemeClr val="lt1"/>
              </a:solidFill>
            </a:endParaRPr>
          </a:p>
        </p:txBody>
      </p:sp>
      <p:sp>
        <p:nvSpPr>
          <p:cNvPr id="448" name="Google Shape;448;p80"/>
          <p:cNvSpPr txBox="1"/>
          <p:nvPr/>
        </p:nvSpPr>
        <p:spPr>
          <a:xfrm>
            <a:off x="254781" y="3106614"/>
            <a:ext cx="2007773" cy="190562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1800" u="none" cap="none" strike="noStrike">
                <a:solidFill>
                  <a:srgbClr val="304852"/>
                </a:solidFill>
                <a:latin typeface="Cabin"/>
                <a:ea typeface="Cabin"/>
                <a:cs typeface="Cabin"/>
                <a:sym typeface="Cabin"/>
              </a:rPr>
              <a:t>Orient to the assumptions, representations, and variables built into the simulation.</a:t>
            </a:r>
            <a:endParaRPr b="0" i="0" sz="1800" u="none" cap="none" strike="noStrike">
              <a:solidFill>
                <a:srgbClr val="304852"/>
              </a:solidFill>
              <a:latin typeface="Cabin"/>
              <a:ea typeface="Cabin"/>
              <a:cs typeface="Cabin"/>
              <a:sym typeface="Cabin"/>
            </a:endParaRPr>
          </a:p>
        </p:txBody>
      </p:sp>
      <p:sp>
        <p:nvSpPr>
          <p:cNvPr id="449" name="Google Shape;449;p80">
            <a:hlinkClick r:id="rId5"/>
          </p:cNvPr>
          <p:cNvSpPr txBox="1"/>
          <p:nvPr/>
        </p:nvSpPr>
        <p:spPr>
          <a:xfrm>
            <a:off x="254781" y="5237259"/>
            <a:ext cx="2007773" cy="631425"/>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1800" u="sng" cap="none" strike="noStrike">
                <a:solidFill>
                  <a:srgbClr val="304852"/>
                </a:solidFill>
                <a:latin typeface="Cabin"/>
                <a:ea typeface="Cabin"/>
                <a:cs typeface="Cabin"/>
                <a:sym typeface="Cabin"/>
                <a:hlinkClick r:id="rId6">
                  <a:extLst>
                    <a:ext uri="{A12FA001-AC4F-418D-AE19-62706E023703}">
                      <ahyp:hlinkClr val="tx"/>
                    </a:ext>
                  </a:extLst>
                </a:hlinkClick>
              </a:rPr>
              <a:t>Simulation link</a:t>
            </a:r>
            <a:endParaRPr b="0" i="0" sz="1800" u="none" cap="none" strike="noStrike">
              <a:solidFill>
                <a:srgbClr val="304852"/>
              </a:solidFill>
              <a:latin typeface="Cabin"/>
              <a:ea typeface="Cabin"/>
              <a:cs typeface="Cabin"/>
              <a:sym typeface="Cab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81"/>
          <p:cNvSpPr txBox="1"/>
          <p:nvPr>
            <p:ph idx="1" type="body"/>
          </p:nvPr>
        </p:nvSpPr>
        <p:spPr>
          <a:xfrm>
            <a:off x="164123" y="844964"/>
            <a:ext cx="11863754" cy="3227415"/>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55" name="Google Shape;455;p81"/>
          <p:cNvSpPr txBox="1"/>
          <p:nvPr/>
        </p:nvSpPr>
        <p:spPr>
          <a:xfrm>
            <a:off x="2743647" y="1065764"/>
            <a:ext cx="3647725"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group</a:t>
            </a:r>
            <a:endParaRPr b="0" i="0" sz="2600" u="none" cap="none" strike="noStrike">
              <a:solidFill>
                <a:srgbClr val="000000"/>
              </a:solidFill>
              <a:latin typeface="Open Sans"/>
              <a:ea typeface="Open Sans"/>
              <a:cs typeface="Open Sans"/>
              <a:sym typeface="Open Sans"/>
            </a:endParaRPr>
          </a:p>
        </p:txBody>
      </p:sp>
      <p:sp>
        <p:nvSpPr>
          <p:cNvPr id="456" name="Google Shape;456;p81"/>
          <p:cNvSpPr txBox="1"/>
          <p:nvPr>
            <p:ph type="title"/>
          </p:nvPr>
        </p:nvSpPr>
        <p:spPr>
          <a:xfrm>
            <a:off x="0" y="-1784"/>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Plan to Carry Out an Investigation</a:t>
            </a:r>
            <a:endParaRPr>
              <a:solidFill>
                <a:schemeClr val="lt1"/>
              </a:solidFill>
            </a:endParaRPr>
          </a:p>
        </p:txBody>
      </p:sp>
      <p:sp>
        <p:nvSpPr>
          <p:cNvPr id="457" name="Google Shape;457;p81"/>
          <p:cNvSpPr txBox="1"/>
          <p:nvPr/>
        </p:nvSpPr>
        <p:spPr>
          <a:xfrm>
            <a:off x="2093435" y="1704271"/>
            <a:ext cx="9850326" cy="2210831"/>
          </a:xfrm>
          <a:prstGeom prst="rect">
            <a:avLst/>
          </a:prstGeom>
          <a:noFill/>
          <a:ln>
            <a:noFill/>
          </a:ln>
        </p:spPr>
        <p:txBody>
          <a:bodyPr anchorCtr="0" anchor="t" bIns="91425" lIns="91425" spcFirstLastPara="1" rIns="91425" wrap="square" tIns="91425">
            <a:spAutoFit/>
          </a:bodyPr>
          <a:lstStyle/>
          <a:p>
            <a:pPr indent="-387350" lvl="0" marL="9144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Decide which independent variable each person will investigate.</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None/>
            </a:pPr>
            <a:r>
              <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None/>
            </a:pPr>
            <a:r>
              <a:t/>
            </a:r>
            <a:endParaRPr b="0" i="0" sz="2500" u="none" cap="none" strike="noStrike">
              <a:solidFill>
                <a:srgbClr val="304852"/>
              </a:solidFill>
              <a:latin typeface="Cabin"/>
              <a:ea typeface="Cabin"/>
              <a:cs typeface="Cabin"/>
              <a:sym typeface="Cabin"/>
            </a:endParaRPr>
          </a:p>
          <a:p>
            <a:pPr indent="-387350" lvl="0" marL="9144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Record this on Part 1 of your handout.</a:t>
            </a:r>
            <a:endParaRPr b="0" i="0" sz="2500" u="none" cap="none" strike="noStrike">
              <a:solidFill>
                <a:srgbClr val="304852"/>
              </a:solidFill>
              <a:latin typeface="Cabin"/>
              <a:ea typeface="Cabin"/>
              <a:cs typeface="Cabin"/>
              <a:sym typeface="Cabin"/>
            </a:endParaRPr>
          </a:p>
        </p:txBody>
      </p:sp>
      <p:pic>
        <p:nvPicPr>
          <p:cNvPr id="458" name="Google Shape;458;p81"/>
          <p:cNvPicPr preferRelativeResize="0"/>
          <p:nvPr/>
        </p:nvPicPr>
        <p:blipFill rotWithShape="1">
          <a:blip r:embed="rId3">
            <a:alphaModFix/>
          </a:blip>
          <a:srcRect b="0" l="0" r="0" t="0"/>
          <a:stretch/>
        </p:blipFill>
        <p:spPr>
          <a:xfrm>
            <a:off x="625248" y="1179515"/>
            <a:ext cx="1800850" cy="1125531"/>
          </a:xfrm>
          <a:prstGeom prst="rect">
            <a:avLst/>
          </a:prstGeom>
          <a:noFill/>
          <a:ln>
            <a:noFill/>
          </a:ln>
        </p:spPr>
      </p:pic>
      <p:pic>
        <p:nvPicPr>
          <p:cNvPr id="459" name="Google Shape;459;p81"/>
          <p:cNvPicPr preferRelativeResize="0"/>
          <p:nvPr/>
        </p:nvPicPr>
        <p:blipFill rotWithShape="1">
          <a:blip r:embed="rId4">
            <a:alphaModFix/>
          </a:blip>
          <a:srcRect b="7723" l="0" r="0" t="0"/>
          <a:stretch/>
        </p:blipFill>
        <p:spPr>
          <a:xfrm>
            <a:off x="2948544" y="2389170"/>
            <a:ext cx="6675949" cy="692875"/>
          </a:xfrm>
          <a:prstGeom prst="rect">
            <a:avLst/>
          </a:prstGeom>
          <a:noFill/>
          <a:ln>
            <a:noFill/>
          </a:ln>
        </p:spPr>
      </p:pic>
      <p:sp>
        <p:nvSpPr>
          <p:cNvPr id="460" name="Google Shape;460;p81"/>
          <p:cNvSpPr txBox="1"/>
          <p:nvPr/>
        </p:nvSpPr>
        <p:spPr>
          <a:xfrm>
            <a:off x="163759" y="4233027"/>
            <a:ext cx="11863753" cy="1875542"/>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15000"/>
              </a:lnSpc>
              <a:spcBef>
                <a:spcPts val="0"/>
              </a:spcBef>
              <a:spcAft>
                <a:spcPts val="1000"/>
              </a:spcAft>
              <a:buClr>
                <a:schemeClr val="dk2"/>
              </a:buClr>
              <a:buSzPts val="1800"/>
              <a:buFont typeface="Arial"/>
              <a:buNone/>
            </a:pPr>
            <a:r>
              <a:rPr b="0" i="0" lang="en" sz="1800" u="none" cap="none" strike="noStrike">
                <a:solidFill>
                  <a:schemeClr val="dk2"/>
                </a:solidFill>
                <a:latin typeface="Arial"/>
                <a:ea typeface="Arial"/>
                <a:cs typeface="Arial"/>
                <a:sym typeface="Arial"/>
              </a:rPr>
              <a:t> </a:t>
            </a:r>
            <a:endParaRPr/>
          </a:p>
        </p:txBody>
      </p:sp>
      <p:sp>
        <p:nvSpPr>
          <p:cNvPr id="461" name="Google Shape;461;p81"/>
          <p:cNvSpPr txBox="1"/>
          <p:nvPr/>
        </p:nvSpPr>
        <p:spPr>
          <a:xfrm>
            <a:off x="2662070" y="4532361"/>
            <a:ext cx="42777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On your own</a:t>
            </a:r>
            <a:endParaRPr b="0" i="0" sz="2600" u="none" cap="none" strike="noStrike">
              <a:solidFill>
                <a:srgbClr val="000000"/>
              </a:solidFill>
              <a:latin typeface="Open Sans"/>
              <a:ea typeface="Open Sans"/>
              <a:cs typeface="Open Sans"/>
              <a:sym typeface="Open Sans"/>
            </a:endParaRPr>
          </a:p>
        </p:txBody>
      </p:sp>
      <p:sp>
        <p:nvSpPr>
          <p:cNvPr id="462" name="Google Shape;462;p81"/>
          <p:cNvSpPr txBox="1"/>
          <p:nvPr/>
        </p:nvSpPr>
        <p:spPr>
          <a:xfrm>
            <a:off x="2662070" y="5138885"/>
            <a:ext cx="8103340" cy="883545"/>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Carry out Investigations 1-4 and record your results.</a:t>
            </a:r>
            <a:endParaRPr b="0" i="0" sz="2400" u="none" cap="none" strike="noStrike">
              <a:solidFill>
                <a:srgbClr val="304852"/>
              </a:solidFill>
              <a:latin typeface="Cabin"/>
              <a:ea typeface="Cabin"/>
              <a:cs typeface="Cabin"/>
              <a:sym typeface="Cabin"/>
            </a:endParaRPr>
          </a:p>
        </p:txBody>
      </p:sp>
      <p:pic>
        <p:nvPicPr>
          <p:cNvPr id="463" name="Google Shape;463;p81"/>
          <p:cNvPicPr preferRelativeResize="0"/>
          <p:nvPr/>
        </p:nvPicPr>
        <p:blipFill rotWithShape="1">
          <a:blip r:embed="rId5">
            <a:alphaModFix/>
          </a:blip>
          <a:srcRect b="0" l="0" r="0" t="0"/>
          <a:stretch/>
        </p:blipFill>
        <p:spPr>
          <a:xfrm>
            <a:off x="839740" y="4532361"/>
            <a:ext cx="1146350" cy="1356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82"/>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469" name="Google Shape;469;p82"/>
          <p:cNvSpPr txBox="1"/>
          <p:nvPr>
            <p:ph idx="1" type="body"/>
          </p:nvPr>
        </p:nvSpPr>
        <p:spPr>
          <a:xfrm>
            <a:off x="415600" y="1536633"/>
            <a:ext cx="113607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83"/>
          <p:cNvSpPr txBox="1"/>
          <p:nvPr>
            <p:ph idx="1" type="body"/>
          </p:nvPr>
        </p:nvSpPr>
        <p:spPr>
          <a:xfrm>
            <a:off x="359788" y="1027578"/>
            <a:ext cx="11414289" cy="2300084"/>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75" name="Google Shape;475;p83"/>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Prepare for a Scientists Circle</a:t>
            </a:r>
            <a:endParaRPr b="1">
              <a:solidFill>
                <a:schemeClr val="lt1"/>
              </a:solidFill>
              <a:latin typeface="Open Sans"/>
              <a:ea typeface="Open Sans"/>
              <a:cs typeface="Open Sans"/>
              <a:sym typeface="Open Sans"/>
            </a:endParaRPr>
          </a:p>
        </p:txBody>
      </p:sp>
      <p:sp>
        <p:nvSpPr>
          <p:cNvPr id="476" name="Google Shape;476;p83"/>
          <p:cNvSpPr txBox="1"/>
          <p:nvPr/>
        </p:nvSpPr>
        <p:spPr>
          <a:xfrm>
            <a:off x="2675139" y="2053278"/>
            <a:ext cx="8542758" cy="1197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How did changes in your independent variable affect the outcomes in the simulation?</a:t>
            </a:r>
            <a:endParaRPr b="0" i="0" sz="2500" u="none" cap="none" strike="noStrike">
              <a:solidFill>
                <a:srgbClr val="304852"/>
              </a:solidFill>
              <a:latin typeface="Cabin"/>
              <a:ea typeface="Cabin"/>
              <a:cs typeface="Cabin"/>
              <a:sym typeface="Cabin"/>
            </a:endParaRPr>
          </a:p>
        </p:txBody>
      </p:sp>
      <p:sp>
        <p:nvSpPr>
          <p:cNvPr id="477" name="Google Shape;477;p83"/>
          <p:cNvSpPr txBox="1"/>
          <p:nvPr/>
        </p:nvSpPr>
        <p:spPr>
          <a:xfrm>
            <a:off x="2675139" y="1299491"/>
            <a:ext cx="30000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group</a:t>
            </a:r>
            <a:endParaRPr b="0" i="0" sz="2600" u="none" cap="none" strike="noStrike">
              <a:solidFill>
                <a:srgbClr val="000000"/>
              </a:solidFill>
              <a:latin typeface="Open Sans"/>
              <a:ea typeface="Open Sans"/>
              <a:cs typeface="Open Sans"/>
              <a:sym typeface="Open Sans"/>
            </a:endParaRPr>
          </a:p>
        </p:txBody>
      </p:sp>
      <p:pic>
        <p:nvPicPr>
          <p:cNvPr id="478" name="Google Shape;478;p83"/>
          <p:cNvPicPr preferRelativeResize="0"/>
          <p:nvPr/>
        </p:nvPicPr>
        <p:blipFill rotWithShape="1">
          <a:blip r:embed="rId3">
            <a:alphaModFix/>
          </a:blip>
          <a:srcRect b="0" l="0" r="0" t="0"/>
          <a:stretch/>
        </p:blipFill>
        <p:spPr>
          <a:xfrm>
            <a:off x="775689" y="1421297"/>
            <a:ext cx="1483550" cy="93036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4"/>
          <p:cNvSpPr txBox="1"/>
          <p:nvPr>
            <p:ph idx="1" type="body"/>
          </p:nvPr>
        </p:nvSpPr>
        <p:spPr>
          <a:xfrm>
            <a:off x="1981200" y="1536625"/>
            <a:ext cx="8229600" cy="3516142"/>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84" name="Google Shape;484;p84"/>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a:t>
            </a:r>
            <a:endParaRPr>
              <a:solidFill>
                <a:schemeClr val="lt1"/>
              </a:solidFill>
            </a:endParaRPr>
          </a:p>
        </p:txBody>
      </p:sp>
      <p:sp>
        <p:nvSpPr>
          <p:cNvPr id="485" name="Google Shape;485;p84"/>
          <p:cNvSpPr txBox="1"/>
          <p:nvPr/>
        </p:nvSpPr>
        <p:spPr>
          <a:xfrm>
            <a:off x="4074774" y="2317351"/>
            <a:ext cx="5861077" cy="265326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Meet in a Scientists Circle to develop a consensus model that represents what we figured out from our investigations.</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Bring your </a:t>
            </a:r>
            <a:r>
              <a:rPr b="0" i="1" lang="en" sz="2500" u="none" cap="none" strike="noStrike">
                <a:solidFill>
                  <a:srgbClr val="304852"/>
                </a:solidFill>
                <a:latin typeface="Cabin"/>
                <a:ea typeface="Cabin"/>
                <a:cs typeface="Cabin"/>
                <a:sym typeface="Cabin"/>
              </a:rPr>
              <a:t>Notes 4 </a:t>
            </a:r>
            <a:r>
              <a:rPr b="0" i="0" lang="en" sz="2500" u="none" cap="none" strike="noStrike">
                <a:solidFill>
                  <a:srgbClr val="304852"/>
                </a:solidFill>
                <a:latin typeface="Cabin"/>
                <a:ea typeface="Cabin"/>
                <a:cs typeface="Cabin"/>
                <a:sym typeface="Cabin"/>
              </a:rPr>
              <a:t>and </a:t>
            </a:r>
            <a:r>
              <a:rPr b="0" i="1" lang="en" sz="2500" u="none" cap="none" strike="noStrike">
                <a:solidFill>
                  <a:srgbClr val="304852"/>
                </a:solidFill>
                <a:latin typeface="Cabin"/>
                <a:ea typeface="Cabin"/>
                <a:cs typeface="Cabin"/>
                <a:sym typeface="Cabin"/>
              </a:rPr>
              <a:t>Particle Investigations</a:t>
            </a:r>
            <a:r>
              <a:rPr b="0" i="0" lang="en" sz="2500" u="none" cap="none" strike="noStrike">
                <a:solidFill>
                  <a:srgbClr val="304852"/>
                </a:solidFill>
                <a:latin typeface="Cabin"/>
                <a:ea typeface="Cabin"/>
                <a:cs typeface="Cabin"/>
                <a:sym typeface="Cabin"/>
              </a:rPr>
              <a:t> handout with you.</a:t>
            </a:r>
            <a:endParaRPr b="0" i="0" sz="2500" u="none" cap="none" strike="noStrike">
              <a:solidFill>
                <a:srgbClr val="304852"/>
              </a:solidFill>
              <a:latin typeface="Cabin"/>
              <a:ea typeface="Cabin"/>
              <a:cs typeface="Cabin"/>
              <a:sym typeface="Cabin"/>
            </a:endParaRPr>
          </a:p>
        </p:txBody>
      </p:sp>
      <p:sp>
        <p:nvSpPr>
          <p:cNvPr id="486" name="Google Shape;486;p84"/>
          <p:cNvSpPr txBox="1"/>
          <p:nvPr/>
        </p:nvSpPr>
        <p:spPr>
          <a:xfrm>
            <a:off x="4067950" y="1656138"/>
            <a:ext cx="30000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487" name="Google Shape;487;p84"/>
          <p:cNvPicPr preferRelativeResize="0"/>
          <p:nvPr/>
        </p:nvPicPr>
        <p:blipFill rotWithShape="1">
          <a:blip r:embed="rId3">
            <a:alphaModFix/>
          </a:blip>
          <a:srcRect b="0" l="0" r="0" t="0"/>
          <a:stretch/>
        </p:blipFill>
        <p:spPr>
          <a:xfrm>
            <a:off x="2377749" y="1778099"/>
            <a:ext cx="1383500" cy="1489350"/>
          </a:xfrm>
          <a:prstGeom prst="rect">
            <a:avLst/>
          </a:prstGeom>
          <a:noFill/>
          <a:ln>
            <a:noFill/>
          </a:ln>
        </p:spPr>
      </p:pic>
      <p:sp>
        <p:nvSpPr>
          <p:cNvPr id="488" name="Google Shape;488;p84"/>
          <p:cNvSpPr txBox="1"/>
          <p:nvPr/>
        </p:nvSpPr>
        <p:spPr>
          <a:xfrm>
            <a:off x="317499" y="656526"/>
            <a:ext cx="11419811" cy="755305"/>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Let’s work together to figure out how these new ideas apply to our phenomena.</a:t>
            </a:r>
            <a:endParaRPr b="0" i="0" sz="2500" u="none" cap="none" strike="noStrike">
              <a:solidFill>
                <a:srgbClr val="000000"/>
              </a:solidFill>
              <a:latin typeface="Cabin"/>
              <a:ea typeface="Cabin"/>
              <a:cs typeface="Cabin"/>
              <a:sym typeface="Cabi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5"/>
          <p:cNvSpPr txBox="1"/>
          <p:nvPr>
            <p:ph idx="1" type="body"/>
          </p:nvPr>
        </p:nvSpPr>
        <p:spPr>
          <a:xfrm>
            <a:off x="171254" y="820188"/>
            <a:ext cx="11849492" cy="5012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94" name="Google Shape;494;p85"/>
          <p:cNvSpPr txBox="1"/>
          <p:nvPr>
            <p:ph type="title"/>
          </p:nvPr>
        </p:nvSpPr>
        <p:spPr>
          <a:xfrm>
            <a:off x="0" y="4144"/>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 (sketch force diagrams on notes)</a:t>
            </a:r>
            <a:endParaRPr>
              <a:solidFill>
                <a:schemeClr val="lt1"/>
              </a:solidFill>
            </a:endParaRPr>
          </a:p>
        </p:txBody>
      </p:sp>
      <p:sp>
        <p:nvSpPr>
          <p:cNvPr id="495" name="Google Shape;495;p85"/>
          <p:cNvSpPr txBox="1"/>
          <p:nvPr/>
        </p:nvSpPr>
        <p:spPr>
          <a:xfrm>
            <a:off x="2153354" y="1365263"/>
            <a:ext cx="9196518" cy="1197733"/>
          </a:xfrm>
          <a:prstGeom prst="rect">
            <a:avLst/>
          </a:prstGeom>
          <a:noFill/>
          <a:ln>
            <a:noFill/>
          </a:ln>
        </p:spPr>
        <p:txBody>
          <a:bodyPr anchorCtr="0" anchor="t" bIns="91425" lIns="91425" spcFirstLastPara="1" rIns="91425" wrap="square" tIns="91425">
            <a:spAutoFit/>
          </a:bodyPr>
          <a:lstStyle/>
          <a:p>
            <a:pPr indent="0" lvl="0" marL="6985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Consider whether forces acting on particles are balanced or unbalanced in the following conditions:</a:t>
            </a:r>
            <a:endParaRPr b="0" i="0" sz="2500" u="none" cap="none" strike="noStrike">
              <a:solidFill>
                <a:srgbClr val="304852"/>
              </a:solidFill>
              <a:latin typeface="Cabin"/>
              <a:ea typeface="Cabin"/>
              <a:cs typeface="Cabin"/>
              <a:sym typeface="Cabin"/>
            </a:endParaRPr>
          </a:p>
        </p:txBody>
      </p:sp>
      <p:sp>
        <p:nvSpPr>
          <p:cNvPr id="496" name="Google Shape;496;p85"/>
          <p:cNvSpPr txBox="1"/>
          <p:nvPr/>
        </p:nvSpPr>
        <p:spPr>
          <a:xfrm>
            <a:off x="2219304" y="856451"/>
            <a:ext cx="30000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497" name="Google Shape;497;p85"/>
          <p:cNvPicPr preferRelativeResize="0"/>
          <p:nvPr/>
        </p:nvPicPr>
        <p:blipFill rotWithShape="1">
          <a:blip r:embed="rId3">
            <a:alphaModFix/>
          </a:blip>
          <a:srcRect b="0" l="0" r="0" t="0"/>
          <a:stretch/>
        </p:blipFill>
        <p:spPr>
          <a:xfrm>
            <a:off x="567803" y="985462"/>
            <a:ext cx="1383500" cy="1489350"/>
          </a:xfrm>
          <a:prstGeom prst="rect">
            <a:avLst/>
          </a:prstGeom>
          <a:noFill/>
          <a:ln>
            <a:noFill/>
          </a:ln>
        </p:spPr>
      </p:pic>
      <p:sp>
        <p:nvSpPr>
          <p:cNvPr id="498" name="Google Shape;498;p85"/>
          <p:cNvSpPr txBox="1"/>
          <p:nvPr/>
        </p:nvSpPr>
        <p:spPr>
          <a:xfrm>
            <a:off x="2219304" y="2366644"/>
            <a:ext cx="8544900" cy="2967449"/>
          </a:xfrm>
          <a:prstGeom prst="rect">
            <a:avLst/>
          </a:prstGeom>
          <a:noFill/>
          <a:ln>
            <a:noFill/>
          </a:ln>
        </p:spPr>
        <p:txBody>
          <a:bodyPr anchorCtr="0" anchor="t" bIns="91425" lIns="91425" spcFirstLastPara="1" rIns="91425" wrap="square" tIns="91425">
            <a:spAutoFit/>
          </a:bodyPr>
          <a:lstStyle/>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No external forces are acting on the foam.</a:t>
            </a:r>
            <a:endParaRPr b="0" i="0" sz="2500" u="none" cap="none" strike="noStrike">
              <a:solidFill>
                <a:srgbClr val="304852"/>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Forces start bending the foam.</a:t>
            </a:r>
            <a:endParaRPr b="0" i="0" sz="2500" u="none" cap="none" strike="noStrike">
              <a:solidFill>
                <a:srgbClr val="304852"/>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Forces stop bending the foam, but keep it bent.</a:t>
            </a:r>
            <a:endParaRPr b="0" i="0" sz="2500" u="none" cap="none" strike="noStrike">
              <a:solidFill>
                <a:srgbClr val="304852"/>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Forces continue bending the foam, and cracks appear.</a:t>
            </a:r>
            <a:endParaRPr b="0" i="0" sz="2500" u="none" cap="none" strike="noStrike">
              <a:solidFill>
                <a:srgbClr val="304852"/>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The foam breaks in 2 pieces.</a:t>
            </a:r>
            <a:endParaRPr b="0" i="0" sz="2500" u="none" cap="none" strike="noStrike">
              <a:solidFill>
                <a:srgbClr val="304852"/>
              </a:solidFill>
              <a:latin typeface="Cabin"/>
              <a:ea typeface="Cabin"/>
              <a:cs typeface="Cabin"/>
              <a:sym typeface="Cabin"/>
            </a:endParaRPr>
          </a:p>
          <a:p>
            <a:pPr indent="0" lvl="0" marL="69850" marR="0" rtl="0" algn="l">
              <a:lnSpc>
                <a:spcPct val="115000"/>
              </a:lnSpc>
              <a:spcBef>
                <a:spcPts val="1000"/>
              </a:spcBef>
              <a:spcAft>
                <a:spcPts val="0"/>
              </a:spcAft>
              <a:buNone/>
            </a:pPr>
            <a:r>
              <a:rPr b="0" i="0" lang="en" sz="2500" u="none" cap="none" strike="noStrike">
                <a:solidFill>
                  <a:srgbClr val="304852"/>
                </a:solidFill>
                <a:latin typeface="Cabin"/>
                <a:ea typeface="Cabin"/>
                <a:cs typeface="Cabin"/>
                <a:sym typeface="Cabin"/>
              </a:rPr>
              <a:t>What is happening to the particles along this sequence?</a:t>
            </a:r>
            <a:endParaRPr b="0" i="0" sz="2500" u="none" cap="none" strike="noStrike">
              <a:solidFill>
                <a:srgbClr val="304852"/>
              </a:solidFill>
              <a:latin typeface="Cabin"/>
              <a:ea typeface="Cabin"/>
              <a:cs typeface="Cabin"/>
              <a:sym typeface="Cabi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6"/>
          <p:cNvSpPr txBox="1"/>
          <p:nvPr>
            <p:ph idx="1" type="body"/>
          </p:nvPr>
        </p:nvSpPr>
        <p:spPr>
          <a:xfrm>
            <a:off x="171254" y="820188"/>
            <a:ext cx="11849400" cy="5012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504" name="Google Shape;504;p86"/>
          <p:cNvSpPr txBox="1"/>
          <p:nvPr>
            <p:ph type="title"/>
          </p:nvPr>
        </p:nvSpPr>
        <p:spPr>
          <a:xfrm>
            <a:off x="0" y="4144"/>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a:t>
            </a:r>
            <a:endParaRPr>
              <a:solidFill>
                <a:schemeClr val="lt1"/>
              </a:solidFill>
            </a:endParaRPr>
          </a:p>
        </p:txBody>
      </p:sp>
      <p:sp>
        <p:nvSpPr>
          <p:cNvPr id="505" name="Google Shape;505;p86"/>
          <p:cNvSpPr txBox="1"/>
          <p:nvPr/>
        </p:nvSpPr>
        <p:spPr>
          <a:xfrm>
            <a:off x="2153354" y="1365263"/>
            <a:ext cx="9196500" cy="1011900"/>
          </a:xfrm>
          <a:prstGeom prst="rect">
            <a:avLst/>
          </a:prstGeom>
          <a:noFill/>
          <a:ln>
            <a:noFill/>
          </a:ln>
        </p:spPr>
        <p:txBody>
          <a:bodyPr anchorCtr="0" anchor="t" bIns="91425" lIns="91425" spcFirstLastPara="1" rIns="91425" wrap="square" tIns="91425">
            <a:spAutoFit/>
          </a:bodyPr>
          <a:lstStyle/>
          <a:p>
            <a:pPr indent="0" lvl="0" marL="6985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Consider whether forces acting on particles are balanced or unbalanced in the following conditions:</a:t>
            </a:r>
            <a:endParaRPr b="0" i="0" sz="2500" u="none" cap="none" strike="noStrike">
              <a:solidFill>
                <a:srgbClr val="304852"/>
              </a:solidFill>
              <a:latin typeface="Cabin"/>
              <a:ea typeface="Cabin"/>
              <a:cs typeface="Cabin"/>
              <a:sym typeface="Cabin"/>
            </a:endParaRPr>
          </a:p>
        </p:txBody>
      </p:sp>
      <p:sp>
        <p:nvSpPr>
          <p:cNvPr id="506" name="Google Shape;506;p86"/>
          <p:cNvSpPr txBox="1"/>
          <p:nvPr/>
        </p:nvSpPr>
        <p:spPr>
          <a:xfrm>
            <a:off x="2219304" y="856451"/>
            <a:ext cx="3000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507" name="Google Shape;507;p86"/>
          <p:cNvPicPr preferRelativeResize="0"/>
          <p:nvPr/>
        </p:nvPicPr>
        <p:blipFill rotWithShape="1">
          <a:blip r:embed="rId3">
            <a:alphaModFix/>
          </a:blip>
          <a:srcRect b="0" l="0" r="0" t="0"/>
          <a:stretch/>
        </p:blipFill>
        <p:spPr>
          <a:xfrm>
            <a:off x="567803" y="985462"/>
            <a:ext cx="1383500" cy="1489350"/>
          </a:xfrm>
          <a:prstGeom prst="rect">
            <a:avLst/>
          </a:prstGeom>
          <a:noFill/>
          <a:ln>
            <a:noFill/>
          </a:ln>
        </p:spPr>
      </p:pic>
      <p:sp>
        <p:nvSpPr>
          <p:cNvPr id="508" name="Google Shape;508;p86"/>
          <p:cNvSpPr txBox="1"/>
          <p:nvPr/>
        </p:nvSpPr>
        <p:spPr>
          <a:xfrm>
            <a:off x="2219304" y="2366644"/>
            <a:ext cx="8544900" cy="3795600"/>
          </a:xfrm>
          <a:prstGeom prst="rect">
            <a:avLst/>
          </a:prstGeom>
          <a:noFill/>
          <a:ln>
            <a:noFill/>
          </a:ln>
        </p:spPr>
        <p:txBody>
          <a:bodyPr anchorCtr="0" anchor="t" bIns="91425" lIns="91425" spcFirstLastPara="1" rIns="91425" wrap="square" tIns="91425">
            <a:spAutoFit/>
          </a:bodyPr>
          <a:lstStyle/>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No external forces are acting on the foam.  </a:t>
            </a:r>
            <a:r>
              <a:rPr b="0" i="0" lang="en" sz="2500" u="none" cap="none" strike="noStrike">
                <a:solidFill>
                  <a:srgbClr val="0000FF"/>
                </a:solidFill>
                <a:latin typeface="Cabin"/>
                <a:ea typeface="Cabin"/>
                <a:cs typeface="Cabin"/>
                <a:sym typeface="Cabin"/>
              </a:rPr>
              <a:t>Bal</a:t>
            </a:r>
            <a:endParaRPr b="0" i="0" sz="2500" u="none" cap="none" strike="noStrike">
              <a:solidFill>
                <a:srgbClr val="0000FF"/>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Forces start bending the foam.  </a:t>
            </a:r>
            <a:r>
              <a:rPr b="0" i="0" lang="en" sz="2500" u="none" cap="none" strike="noStrike">
                <a:solidFill>
                  <a:srgbClr val="FF0000"/>
                </a:solidFill>
                <a:latin typeface="Cabin"/>
                <a:ea typeface="Cabin"/>
                <a:cs typeface="Cabin"/>
                <a:sym typeface="Cabin"/>
              </a:rPr>
              <a:t>Unbal</a:t>
            </a:r>
            <a:endParaRPr b="0" i="0" sz="2500" u="none" cap="none" strike="noStrike">
              <a:solidFill>
                <a:srgbClr val="FF0000"/>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Forces stop bending the foam, but keep it bent.  </a:t>
            </a:r>
            <a:r>
              <a:rPr b="0" i="0" lang="en" sz="2500" u="none" cap="none" strike="noStrike">
                <a:solidFill>
                  <a:srgbClr val="0000FF"/>
                </a:solidFill>
                <a:latin typeface="Cabin"/>
                <a:ea typeface="Cabin"/>
                <a:cs typeface="Cabin"/>
                <a:sym typeface="Cabin"/>
              </a:rPr>
              <a:t>Bal</a:t>
            </a:r>
            <a:endParaRPr b="0" i="0" sz="2500" u="none" cap="none" strike="noStrike">
              <a:solidFill>
                <a:srgbClr val="0000FF"/>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Forces continue bending the foam, and cracks appear.</a:t>
            </a:r>
            <a:endParaRPr b="0" i="0" sz="2500" u="none" cap="none" strike="noStrike">
              <a:solidFill>
                <a:srgbClr val="304852"/>
              </a:solidFill>
              <a:latin typeface="Cabin"/>
              <a:ea typeface="Cabin"/>
              <a:cs typeface="Cabin"/>
              <a:sym typeface="Cabin"/>
            </a:endParaRPr>
          </a:p>
          <a:p>
            <a:pPr indent="-387350" lvl="2" marL="1371600" marR="0" rtl="0" algn="l">
              <a:lnSpc>
                <a:spcPct val="115000"/>
              </a:lnSpc>
              <a:spcBef>
                <a:spcPts val="0"/>
              </a:spcBef>
              <a:spcAft>
                <a:spcPts val="0"/>
              </a:spcAft>
              <a:buClr>
                <a:srgbClr val="FF0000"/>
              </a:buClr>
              <a:buSzPts val="2500"/>
              <a:buFont typeface="Cabin"/>
              <a:buChar char="■"/>
            </a:pPr>
            <a:r>
              <a:rPr lang="en" sz="2500">
                <a:solidFill>
                  <a:srgbClr val="FF0000"/>
                </a:solidFill>
                <a:latin typeface="Cabin"/>
                <a:ea typeface="Cabin"/>
                <a:cs typeface="Cabin"/>
                <a:sym typeface="Cabin"/>
              </a:rPr>
              <a:t>Unbal</a:t>
            </a:r>
            <a:endParaRPr sz="2500">
              <a:solidFill>
                <a:srgbClr val="FF0000"/>
              </a:solidFill>
              <a:latin typeface="Cabin"/>
              <a:ea typeface="Cabin"/>
              <a:cs typeface="Cabin"/>
              <a:sym typeface="Cabin"/>
            </a:endParaRPr>
          </a:p>
          <a:p>
            <a:pPr indent="-387350" lvl="1" marL="914400" marR="0" rtl="0" algn="l">
              <a:lnSpc>
                <a:spcPct val="115000"/>
              </a:lnSpc>
              <a:spcBef>
                <a:spcPts val="0"/>
              </a:spcBef>
              <a:spcAft>
                <a:spcPts val="0"/>
              </a:spcAft>
              <a:buClr>
                <a:srgbClr val="304852"/>
              </a:buClr>
              <a:buSzPts val="2500"/>
              <a:buFont typeface="Cabin"/>
              <a:buAutoNum type="arabicParenR"/>
            </a:pPr>
            <a:r>
              <a:rPr b="0" i="0" lang="en" sz="2500" u="none" cap="none" strike="noStrike">
                <a:solidFill>
                  <a:srgbClr val="304852"/>
                </a:solidFill>
                <a:latin typeface="Cabin"/>
                <a:ea typeface="Cabin"/>
                <a:cs typeface="Cabin"/>
                <a:sym typeface="Cabin"/>
              </a:rPr>
              <a:t>The foam breaks in 2 pieces.  </a:t>
            </a:r>
            <a:r>
              <a:rPr b="0" i="0" lang="en" sz="2500" u="none" cap="none" strike="noStrike">
                <a:solidFill>
                  <a:srgbClr val="FF0000"/>
                </a:solidFill>
                <a:latin typeface="Cabin"/>
                <a:ea typeface="Cabin"/>
                <a:cs typeface="Cabin"/>
                <a:sym typeface="Cabin"/>
              </a:rPr>
              <a:t>During unbal,</a:t>
            </a:r>
            <a:r>
              <a:rPr b="0" i="0" lang="en" sz="2500" u="none" cap="none" strike="noStrike">
                <a:solidFill>
                  <a:srgbClr val="304852"/>
                </a:solidFill>
                <a:latin typeface="Cabin"/>
                <a:ea typeface="Cabin"/>
                <a:cs typeface="Cabin"/>
                <a:sym typeface="Cabin"/>
              </a:rPr>
              <a:t> after new bal reached</a:t>
            </a:r>
            <a:endParaRPr b="0" i="0" sz="2500" u="none" cap="none" strike="noStrike">
              <a:solidFill>
                <a:srgbClr val="304852"/>
              </a:solidFill>
              <a:latin typeface="Cabin"/>
              <a:ea typeface="Cabin"/>
              <a:cs typeface="Cabin"/>
              <a:sym typeface="Cabin"/>
            </a:endParaRPr>
          </a:p>
          <a:p>
            <a:pPr indent="0" lvl="0" marL="69850" marR="0" rtl="0" algn="l">
              <a:lnSpc>
                <a:spcPct val="115000"/>
              </a:lnSpc>
              <a:spcBef>
                <a:spcPts val="1000"/>
              </a:spcBef>
              <a:spcAft>
                <a:spcPts val="0"/>
              </a:spcAft>
              <a:buNone/>
            </a:pPr>
            <a:r>
              <a:rPr b="0" i="0" lang="en" sz="2500" u="none" cap="none" strike="noStrike">
                <a:solidFill>
                  <a:srgbClr val="304852"/>
                </a:solidFill>
                <a:latin typeface="Cabin"/>
                <a:ea typeface="Cabin"/>
                <a:cs typeface="Cabin"/>
                <a:sym typeface="Cabin"/>
              </a:rPr>
              <a:t>What is happening to the particles along this sequence?</a:t>
            </a:r>
            <a:endParaRPr b="0" i="0" sz="2500" u="none" cap="none" strike="noStrike">
              <a:solidFill>
                <a:srgbClr val="304852"/>
              </a:solidFill>
              <a:latin typeface="Cabin"/>
              <a:ea typeface="Cabin"/>
              <a:cs typeface="Cabin"/>
              <a:sym typeface="Cabi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7"/>
          <p:cNvSpPr txBox="1"/>
          <p:nvPr>
            <p:ph idx="1" type="body"/>
          </p:nvPr>
        </p:nvSpPr>
        <p:spPr>
          <a:xfrm>
            <a:off x="1981200" y="1536625"/>
            <a:ext cx="8229600" cy="23019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514" name="Google Shape;514;p87"/>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a:t>
            </a:r>
            <a:endParaRPr>
              <a:solidFill>
                <a:schemeClr val="lt1"/>
              </a:solidFill>
            </a:endParaRPr>
          </a:p>
        </p:txBody>
      </p:sp>
      <p:sp>
        <p:nvSpPr>
          <p:cNvPr id="515" name="Google Shape;515;p87"/>
          <p:cNvSpPr txBox="1"/>
          <p:nvPr/>
        </p:nvSpPr>
        <p:spPr>
          <a:xfrm>
            <a:off x="4029250" y="2310300"/>
            <a:ext cx="5741100" cy="1640162"/>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What causes all changes in motion, whether the motion is at the particle level or macroscopic?</a:t>
            </a:r>
            <a:endParaRPr b="0" i="0" sz="2500" u="none" cap="none" strike="noStrike">
              <a:solidFill>
                <a:srgbClr val="304852"/>
              </a:solidFill>
              <a:latin typeface="Cabin"/>
              <a:ea typeface="Cabin"/>
              <a:cs typeface="Cabin"/>
              <a:sym typeface="Cabin"/>
            </a:endParaRPr>
          </a:p>
        </p:txBody>
      </p:sp>
      <p:sp>
        <p:nvSpPr>
          <p:cNvPr id="516" name="Google Shape;516;p87"/>
          <p:cNvSpPr txBox="1"/>
          <p:nvPr/>
        </p:nvSpPr>
        <p:spPr>
          <a:xfrm>
            <a:off x="4029250" y="1649088"/>
            <a:ext cx="30000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517" name="Google Shape;517;p87"/>
          <p:cNvPicPr preferRelativeResize="0"/>
          <p:nvPr/>
        </p:nvPicPr>
        <p:blipFill rotWithShape="1">
          <a:blip r:embed="rId3">
            <a:alphaModFix/>
          </a:blip>
          <a:srcRect b="0" l="0" r="0" t="0"/>
          <a:stretch/>
        </p:blipFill>
        <p:spPr>
          <a:xfrm>
            <a:off x="2453949" y="1778099"/>
            <a:ext cx="1383500" cy="1489350"/>
          </a:xfrm>
          <a:prstGeom prst="rect">
            <a:avLst/>
          </a:prstGeom>
          <a:noFill/>
          <a:ln>
            <a:noFill/>
          </a:ln>
        </p:spPr>
      </p:pic>
      <p:sp>
        <p:nvSpPr>
          <p:cNvPr id="518" name="Google Shape;518;p87"/>
          <p:cNvSpPr txBox="1"/>
          <p:nvPr/>
        </p:nvSpPr>
        <p:spPr>
          <a:xfrm>
            <a:off x="658838" y="4671617"/>
            <a:ext cx="2275312" cy="1777379"/>
          </a:xfrm>
          <a:prstGeom prst="rect">
            <a:avLst/>
          </a:prstGeom>
          <a:solidFill>
            <a:srgbClr val="6699FF"/>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All changes in matter are a result of changes in motion at a macroscopic or particle level</a:t>
            </a:r>
            <a:endParaRPr b="0" i="0" sz="1200" u="none" cap="none" strike="noStrike">
              <a:solidFill>
                <a:srgbClr val="304852"/>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body"/>
          </p:nvPr>
        </p:nvSpPr>
        <p:spPr>
          <a:xfrm>
            <a:off x="1981200" y="1536625"/>
            <a:ext cx="8229600" cy="4513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524" name="Google Shape;524;p88"/>
          <p:cNvSpPr txBox="1"/>
          <p:nvPr>
            <p:ph type="title"/>
          </p:nvPr>
        </p:nvSpPr>
        <p:spPr>
          <a:xfrm>
            <a:off x="0" y="6337"/>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a:t>
            </a:r>
            <a:endParaRPr>
              <a:solidFill>
                <a:schemeClr val="lt1"/>
              </a:solidFill>
              <a:latin typeface="Open Sans"/>
              <a:ea typeface="Open Sans"/>
              <a:cs typeface="Open Sans"/>
              <a:sym typeface="Open Sans"/>
            </a:endParaRPr>
          </a:p>
        </p:txBody>
      </p:sp>
      <p:sp>
        <p:nvSpPr>
          <p:cNvPr id="525" name="Google Shape;525;p88"/>
          <p:cNvSpPr txBox="1"/>
          <p:nvPr/>
        </p:nvSpPr>
        <p:spPr>
          <a:xfrm>
            <a:off x="3572050" y="2538901"/>
            <a:ext cx="6417000" cy="3223929"/>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Where do we think the foam will break?</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How do the number of particles across this section compare to the rest of the sample?</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Why would this lead to a higher magnitude of internal force per particle in this section, compared to other parts of the matter?</a:t>
            </a:r>
            <a:endParaRPr b="0" i="0" sz="2500" u="none" cap="none" strike="noStrike">
              <a:solidFill>
                <a:srgbClr val="304852"/>
              </a:solidFill>
              <a:latin typeface="Cabin"/>
              <a:ea typeface="Cabin"/>
              <a:cs typeface="Cabin"/>
              <a:sym typeface="Cabin"/>
            </a:endParaRPr>
          </a:p>
        </p:txBody>
      </p:sp>
      <p:sp>
        <p:nvSpPr>
          <p:cNvPr id="526" name="Google Shape;526;p88"/>
          <p:cNvSpPr txBox="1"/>
          <p:nvPr/>
        </p:nvSpPr>
        <p:spPr>
          <a:xfrm>
            <a:off x="3648250" y="1725288"/>
            <a:ext cx="30000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527" name="Google Shape;527;p88"/>
          <p:cNvPicPr preferRelativeResize="0"/>
          <p:nvPr/>
        </p:nvPicPr>
        <p:blipFill rotWithShape="1">
          <a:blip r:embed="rId3">
            <a:alphaModFix/>
          </a:blip>
          <a:srcRect b="0" l="0" r="0" t="0"/>
          <a:stretch/>
        </p:blipFill>
        <p:spPr>
          <a:xfrm>
            <a:off x="2149149" y="1778099"/>
            <a:ext cx="1383500" cy="14893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9"/>
          <p:cNvSpPr txBox="1"/>
          <p:nvPr>
            <p:ph idx="1" type="body"/>
          </p:nvPr>
        </p:nvSpPr>
        <p:spPr>
          <a:xfrm>
            <a:off x="390402" y="914700"/>
            <a:ext cx="8229600" cy="5028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533" name="Google Shape;533;p89"/>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a:t>
            </a:r>
            <a:endParaRPr>
              <a:solidFill>
                <a:schemeClr val="lt1"/>
              </a:solidFill>
            </a:endParaRPr>
          </a:p>
        </p:txBody>
      </p:sp>
      <p:sp>
        <p:nvSpPr>
          <p:cNvPr id="534" name="Google Shape;534;p89"/>
          <p:cNvSpPr txBox="1"/>
          <p:nvPr/>
        </p:nvSpPr>
        <p:spPr>
          <a:xfrm>
            <a:off x="2209852" y="1688376"/>
            <a:ext cx="6237600" cy="4108787"/>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kept the matter from breaking apart along where it cracked before we reached its elastic limit?</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types of forces between protons and electrons produce those bonds?</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Do those same types of forces help explain why all solids, including the plates, could elastically deform up to a point?</a:t>
            </a:r>
            <a:endParaRPr b="0" i="0" sz="2500" u="none" cap="none" strike="noStrike">
              <a:solidFill>
                <a:srgbClr val="304852"/>
              </a:solidFill>
              <a:latin typeface="Cabin"/>
              <a:ea typeface="Cabin"/>
              <a:cs typeface="Cabin"/>
              <a:sym typeface="Cabin"/>
            </a:endParaRPr>
          </a:p>
        </p:txBody>
      </p:sp>
      <p:sp>
        <p:nvSpPr>
          <p:cNvPr id="535" name="Google Shape;535;p89"/>
          <p:cNvSpPr txBox="1"/>
          <p:nvPr/>
        </p:nvSpPr>
        <p:spPr>
          <a:xfrm>
            <a:off x="2057452" y="1103363"/>
            <a:ext cx="30000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536" name="Google Shape;536;p89"/>
          <p:cNvPicPr preferRelativeResize="0"/>
          <p:nvPr/>
        </p:nvPicPr>
        <p:blipFill rotWithShape="1">
          <a:blip r:embed="rId3">
            <a:alphaModFix/>
          </a:blip>
          <a:srcRect b="0" l="0" r="0" t="0"/>
          <a:stretch/>
        </p:blipFill>
        <p:spPr>
          <a:xfrm>
            <a:off x="558351" y="1156174"/>
            <a:ext cx="1383500" cy="1489350"/>
          </a:xfrm>
          <a:prstGeom prst="rect">
            <a:avLst/>
          </a:prstGeom>
          <a:noFill/>
          <a:ln>
            <a:noFill/>
          </a:ln>
        </p:spPr>
      </p:pic>
      <p:sp>
        <p:nvSpPr>
          <p:cNvPr id="537" name="Google Shape;537;p89"/>
          <p:cNvSpPr txBox="1"/>
          <p:nvPr/>
        </p:nvSpPr>
        <p:spPr>
          <a:xfrm>
            <a:off x="8848654" y="2645524"/>
            <a:ext cx="3181596" cy="2237505"/>
          </a:xfrm>
          <a:prstGeom prst="rect">
            <a:avLst/>
          </a:prstGeom>
          <a:solidFill>
            <a:srgbClr val="FFFF66"/>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3200" u="none" cap="none" strike="noStrike">
                <a:solidFill>
                  <a:srgbClr val="304852"/>
                </a:solidFill>
                <a:latin typeface="Calibri"/>
                <a:ea typeface="Calibri"/>
                <a:cs typeface="Calibri"/>
                <a:sym typeface="Calibri"/>
              </a:rPr>
              <a:t>Fields generated by matter result in forces.</a:t>
            </a:r>
            <a:endParaRPr/>
          </a:p>
          <a:p>
            <a:pPr indent="0" lvl="0" marL="0" marR="0" rtl="0" algn="l">
              <a:lnSpc>
                <a:spcPct val="115000"/>
              </a:lnSpc>
              <a:spcBef>
                <a:spcPts val="0"/>
              </a:spcBef>
              <a:spcAft>
                <a:spcPts val="0"/>
              </a:spcAft>
              <a:buNone/>
            </a:pPr>
            <a:r>
              <a:t/>
            </a:r>
            <a:endParaRPr b="0" i="0" sz="2000" u="none" cap="none" strike="noStrike">
              <a:solidFill>
                <a:srgbClr val="304852"/>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0"/>
          <p:cNvSpPr txBox="1"/>
          <p:nvPr>
            <p:ph idx="1" type="body"/>
          </p:nvPr>
        </p:nvSpPr>
        <p:spPr>
          <a:xfrm>
            <a:off x="1981200" y="1536625"/>
            <a:ext cx="8229600" cy="4906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543" name="Google Shape;543;p90"/>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a:t>
            </a:r>
            <a:endParaRPr>
              <a:solidFill>
                <a:schemeClr val="lt1"/>
              </a:solidFill>
            </a:endParaRPr>
          </a:p>
        </p:txBody>
      </p:sp>
      <p:sp>
        <p:nvSpPr>
          <p:cNvPr id="544" name="Google Shape;544;p90"/>
          <p:cNvSpPr txBox="1"/>
          <p:nvPr/>
        </p:nvSpPr>
        <p:spPr>
          <a:xfrm>
            <a:off x="3798625" y="2310301"/>
            <a:ext cx="6185400" cy="3980547"/>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was the relationship between changes in the distance between particles and changes in the energy stored in the electric field(s) in the simulation?</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Can we store unlimited amounts of energy in those electric fields, or was there a limit?</a:t>
            </a:r>
            <a:endParaRPr b="0" i="0" sz="2500" u="none" cap="none" strike="noStrike">
              <a:solidFill>
                <a:srgbClr val="304852"/>
              </a:solidFill>
              <a:latin typeface="Cabin"/>
              <a:ea typeface="Cabin"/>
              <a:cs typeface="Cabin"/>
              <a:sym typeface="Cabin"/>
            </a:endParaRPr>
          </a:p>
        </p:txBody>
      </p:sp>
      <p:sp>
        <p:nvSpPr>
          <p:cNvPr id="545" name="Google Shape;545;p90"/>
          <p:cNvSpPr txBox="1"/>
          <p:nvPr/>
        </p:nvSpPr>
        <p:spPr>
          <a:xfrm>
            <a:off x="3648250" y="1725288"/>
            <a:ext cx="3000000"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546" name="Google Shape;546;p90"/>
          <p:cNvPicPr preferRelativeResize="0"/>
          <p:nvPr/>
        </p:nvPicPr>
        <p:blipFill rotWithShape="1">
          <a:blip r:embed="rId3">
            <a:alphaModFix/>
          </a:blip>
          <a:srcRect b="0" l="0" r="0" t="0"/>
          <a:stretch/>
        </p:blipFill>
        <p:spPr>
          <a:xfrm>
            <a:off x="2149149" y="1778099"/>
            <a:ext cx="1383500" cy="1489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1"/>
          <p:cNvSpPr txBox="1"/>
          <p:nvPr>
            <p:ph idx="1" type="body"/>
          </p:nvPr>
        </p:nvSpPr>
        <p:spPr>
          <a:xfrm>
            <a:off x="1981200" y="1536625"/>
            <a:ext cx="8229600" cy="4798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552" name="Google Shape;552;p91"/>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a:t>
            </a:r>
            <a:endParaRPr>
              <a:solidFill>
                <a:schemeClr val="lt1"/>
              </a:solidFill>
              <a:latin typeface="Open Sans"/>
              <a:ea typeface="Open Sans"/>
              <a:cs typeface="Open Sans"/>
              <a:sym typeface="Open Sans"/>
            </a:endParaRPr>
          </a:p>
        </p:txBody>
      </p:sp>
      <p:sp>
        <p:nvSpPr>
          <p:cNvPr id="553" name="Google Shape;553;p91"/>
          <p:cNvSpPr txBox="1"/>
          <p:nvPr/>
        </p:nvSpPr>
        <p:spPr>
          <a:xfrm>
            <a:off x="2268600" y="1700701"/>
            <a:ext cx="7681800" cy="4422975"/>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How does the scale of a plate, and the number of particles that make up its matter, affect the amount of energy that can be stored in the electric fields between the particles before part of the plate reaches its elastic limit?</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We know the motion of the plates is relatively slow. What does that tell us about why there are periods of apparent stability between earthquakes in any given region?</a:t>
            </a:r>
            <a:endParaRPr b="0" i="0" sz="2500" u="none" cap="none" strike="noStrike">
              <a:solidFill>
                <a:srgbClr val="304852"/>
              </a:solidFill>
              <a:latin typeface="Cabin"/>
              <a:ea typeface="Cabin"/>
              <a:cs typeface="Cabin"/>
              <a:sym typeface="Cabi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2"/>
          <p:cNvSpPr txBox="1"/>
          <p:nvPr>
            <p:ph idx="1" type="body"/>
          </p:nvPr>
        </p:nvSpPr>
        <p:spPr>
          <a:xfrm>
            <a:off x="140676" y="833240"/>
            <a:ext cx="7813747" cy="259576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a:bodyPr>
          <a:lstStyle/>
          <a:p>
            <a:pPr indent="0" lvl="0" marL="1828800" rtl="0" algn="l">
              <a:lnSpc>
                <a:spcPct val="115000"/>
              </a:lnSpc>
              <a:spcBef>
                <a:spcPts val="0"/>
              </a:spcBef>
              <a:spcAft>
                <a:spcPts val="0"/>
              </a:spcAft>
              <a:buClr>
                <a:schemeClr val="dk1"/>
              </a:buClr>
              <a:buSzPts val="1100"/>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559" name="Google Shape;559;p92"/>
          <p:cNvSpPr txBox="1"/>
          <p:nvPr>
            <p:ph type="title"/>
          </p:nvPr>
        </p:nvSpPr>
        <p:spPr>
          <a:xfrm>
            <a:off x="0" y="0"/>
            <a:ext cx="12192000" cy="6861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a:solidFill>
                  <a:schemeClr val="lt1"/>
                </a:solidFill>
                <a:latin typeface="Open Sans"/>
                <a:ea typeface="Open Sans"/>
                <a:cs typeface="Open Sans"/>
                <a:sym typeface="Open Sans"/>
              </a:rPr>
              <a:t>Develop a Consensus Model (turn in your Particle Investigation)</a:t>
            </a:r>
            <a:endParaRPr>
              <a:solidFill>
                <a:schemeClr val="lt1"/>
              </a:solidFill>
            </a:endParaRPr>
          </a:p>
        </p:txBody>
      </p:sp>
      <p:sp>
        <p:nvSpPr>
          <p:cNvPr id="560" name="Google Shape;560;p92"/>
          <p:cNvSpPr txBox="1"/>
          <p:nvPr/>
        </p:nvSpPr>
        <p:spPr>
          <a:xfrm>
            <a:off x="2046576" y="1759315"/>
            <a:ext cx="5362409" cy="1640162"/>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0" i="0" lang="en" sz="2500" u="none" cap="none" strike="noStrike">
                <a:solidFill>
                  <a:srgbClr val="304852"/>
                </a:solidFill>
                <a:latin typeface="Cabin"/>
                <a:ea typeface="Cabin"/>
                <a:cs typeface="Cabin"/>
                <a:sym typeface="Cabin"/>
              </a:rPr>
              <a:t>Update the Scale Chart poster and the M-E-F poster using our ideas about particle-level interactions.</a:t>
            </a:r>
            <a:endParaRPr b="0" i="0" sz="2500" u="none" cap="none" strike="noStrike">
              <a:solidFill>
                <a:srgbClr val="304852"/>
              </a:solidFill>
              <a:latin typeface="Cabin"/>
              <a:ea typeface="Cabin"/>
              <a:cs typeface="Cabin"/>
              <a:sym typeface="Cabin"/>
            </a:endParaRPr>
          </a:p>
        </p:txBody>
      </p:sp>
      <p:sp>
        <p:nvSpPr>
          <p:cNvPr id="561" name="Google Shape;561;p92"/>
          <p:cNvSpPr txBox="1"/>
          <p:nvPr/>
        </p:nvSpPr>
        <p:spPr>
          <a:xfrm>
            <a:off x="1807726" y="1021903"/>
            <a:ext cx="2848406"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Scientists Circle</a:t>
            </a:r>
            <a:endParaRPr b="0" i="0" sz="2600" u="none" cap="none" strike="noStrike">
              <a:solidFill>
                <a:srgbClr val="000000"/>
              </a:solidFill>
              <a:latin typeface="Open Sans"/>
              <a:ea typeface="Open Sans"/>
              <a:cs typeface="Open Sans"/>
              <a:sym typeface="Open Sans"/>
            </a:endParaRPr>
          </a:p>
        </p:txBody>
      </p:sp>
      <p:pic>
        <p:nvPicPr>
          <p:cNvPr id="562" name="Google Shape;562;p92"/>
          <p:cNvPicPr preferRelativeResize="0"/>
          <p:nvPr/>
        </p:nvPicPr>
        <p:blipFill rotWithShape="1">
          <a:blip r:embed="rId3">
            <a:alphaModFix/>
          </a:blip>
          <a:srcRect b="0" l="0" r="0" t="0"/>
          <a:stretch/>
        </p:blipFill>
        <p:spPr>
          <a:xfrm>
            <a:off x="308625" y="1074714"/>
            <a:ext cx="1313590" cy="1489350"/>
          </a:xfrm>
          <a:prstGeom prst="rect">
            <a:avLst/>
          </a:prstGeom>
          <a:noFill/>
          <a:ln>
            <a:noFill/>
          </a:ln>
        </p:spPr>
      </p:pic>
      <p:sp>
        <p:nvSpPr>
          <p:cNvPr id="563" name="Google Shape;563;p92"/>
          <p:cNvSpPr txBox="1"/>
          <p:nvPr/>
        </p:nvSpPr>
        <p:spPr>
          <a:xfrm>
            <a:off x="8483817" y="833240"/>
            <a:ext cx="2275312" cy="1140282"/>
          </a:xfrm>
          <a:prstGeom prst="rect">
            <a:avLst/>
          </a:prstGeom>
          <a:solidFill>
            <a:srgbClr val="92D050"/>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How do we know there is energy in the system?</a:t>
            </a:r>
            <a:endParaRPr b="0" i="0" sz="1200" u="none" cap="none" strike="noStrike">
              <a:solidFill>
                <a:srgbClr val="304852"/>
              </a:solidFill>
              <a:latin typeface="Calibri"/>
              <a:ea typeface="Calibri"/>
              <a:cs typeface="Calibri"/>
              <a:sym typeface="Calibri"/>
            </a:endParaRPr>
          </a:p>
        </p:txBody>
      </p:sp>
      <p:sp>
        <p:nvSpPr>
          <p:cNvPr id="564" name="Google Shape;564;p92"/>
          <p:cNvSpPr txBox="1"/>
          <p:nvPr/>
        </p:nvSpPr>
        <p:spPr>
          <a:xfrm>
            <a:off x="140676" y="3617663"/>
            <a:ext cx="3314700" cy="990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b="0" i="0" lang="en" sz="1600" u="none" cap="none" strike="noStrike">
                <a:solidFill>
                  <a:srgbClr val="0B0B0B"/>
                </a:solidFill>
                <a:latin typeface="Cabin"/>
                <a:ea typeface="Cabin"/>
                <a:cs typeface="Cabin"/>
                <a:sym typeface="Cabin"/>
              </a:rPr>
              <a:t>Really small and slow changes in the plates for </a:t>
            </a:r>
            <a:r>
              <a:rPr b="1" i="0" lang="en" sz="1600" u="none" cap="none" strike="noStrike">
                <a:solidFill>
                  <a:srgbClr val="0B0B0B"/>
                </a:solidFill>
                <a:latin typeface="Cabin"/>
                <a:ea typeface="Cabin"/>
                <a:cs typeface="Cabin"/>
                <a:sym typeface="Cabin"/>
              </a:rPr>
              <a:t>lots </a:t>
            </a:r>
            <a:r>
              <a:rPr b="0" i="0" lang="en" sz="1600" u="none" cap="none" strike="noStrike">
                <a:solidFill>
                  <a:srgbClr val="0B0B0B"/>
                </a:solidFill>
                <a:latin typeface="Cabin"/>
                <a:ea typeface="Cabin"/>
                <a:cs typeface="Cabin"/>
                <a:sym typeface="Cabin"/>
              </a:rPr>
              <a:t>of particles over years</a:t>
            </a:r>
            <a:endParaRPr/>
          </a:p>
        </p:txBody>
      </p:sp>
      <p:sp>
        <p:nvSpPr>
          <p:cNvPr id="565" name="Google Shape;565;p92"/>
          <p:cNvSpPr txBox="1"/>
          <p:nvPr/>
        </p:nvSpPr>
        <p:spPr>
          <a:xfrm>
            <a:off x="140676" y="4688908"/>
            <a:ext cx="1805478" cy="990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b="0" i="0" lang="en" sz="1600" u="none" cap="none" strike="noStrike">
                <a:solidFill>
                  <a:srgbClr val="0B0B0B"/>
                </a:solidFill>
                <a:latin typeface="Cabin"/>
                <a:ea typeface="Cabin"/>
                <a:cs typeface="Cabin"/>
                <a:sym typeface="Cabin"/>
              </a:rPr>
              <a:t>Plate Deformation</a:t>
            </a:r>
            <a:endParaRPr/>
          </a:p>
        </p:txBody>
      </p:sp>
      <p:sp>
        <p:nvSpPr>
          <p:cNvPr id="566" name="Google Shape;566;p92"/>
          <p:cNvSpPr txBox="1"/>
          <p:nvPr/>
        </p:nvSpPr>
        <p:spPr>
          <a:xfrm>
            <a:off x="2247775" y="4706795"/>
            <a:ext cx="1207601" cy="830675"/>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b="0" i="0" lang="en" sz="1600" u="none" cap="none" strike="noStrike">
                <a:solidFill>
                  <a:srgbClr val="0B0B0B"/>
                </a:solidFill>
                <a:latin typeface="Cabin"/>
                <a:ea typeface="Cabin"/>
                <a:cs typeface="Cabin"/>
                <a:sym typeface="Cabin"/>
              </a:rPr>
              <a:t>Bonds break</a:t>
            </a:r>
            <a:endParaRPr/>
          </a:p>
        </p:txBody>
      </p:sp>
      <p:sp>
        <p:nvSpPr>
          <p:cNvPr id="567" name="Google Shape;567;p92"/>
          <p:cNvSpPr txBox="1"/>
          <p:nvPr/>
        </p:nvSpPr>
        <p:spPr>
          <a:xfrm>
            <a:off x="8483817" y="2160524"/>
            <a:ext cx="2911014" cy="1140282"/>
          </a:xfrm>
          <a:prstGeom prst="rect">
            <a:avLst/>
          </a:prstGeom>
          <a:solidFill>
            <a:srgbClr val="92D050"/>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Sound, heat, light, electricity, elastic deformation </a:t>
            </a:r>
            <a:endParaRPr/>
          </a:p>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 are some combination of…</a:t>
            </a:r>
            <a:endParaRPr/>
          </a:p>
        </p:txBody>
      </p:sp>
      <p:sp>
        <p:nvSpPr>
          <p:cNvPr id="568" name="Google Shape;568;p92"/>
          <p:cNvSpPr txBox="1"/>
          <p:nvPr/>
        </p:nvSpPr>
        <p:spPr>
          <a:xfrm>
            <a:off x="8483816" y="3487808"/>
            <a:ext cx="2911013" cy="1140282"/>
          </a:xfrm>
          <a:prstGeom prst="rect">
            <a:avLst/>
          </a:prstGeom>
          <a:solidFill>
            <a:srgbClr val="92D050"/>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Kinetic energy associated with the motion of objects or particles</a:t>
            </a:r>
            <a:endParaRPr b="0" i="0" sz="1200" u="none" cap="none" strike="noStrike">
              <a:solidFill>
                <a:srgbClr val="304852"/>
              </a:solidFill>
              <a:latin typeface="Calibri"/>
              <a:ea typeface="Calibri"/>
              <a:cs typeface="Calibri"/>
              <a:sym typeface="Calibri"/>
            </a:endParaRPr>
          </a:p>
        </p:txBody>
      </p:sp>
      <p:sp>
        <p:nvSpPr>
          <p:cNvPr id="569" name="Google Shape;569;p92"/>
          <p:cNvSpPr txBox="1"/>
          <p:nvPr/>
        </p:nvSpPr>
        <p:spPr>
          <a:xfrm>
            <a:off x="8483817" y="4812567"/>
            <a:ext cx="906368" cy="503184"/>
          </a:xfrm>
          <a:prstGeom prst="rect">
            <a:avLst/>
          </a:prstGeom>
          <a:solidFill>
            <a:srgbClr val="92D050"/>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and/or</a:t>
            </a:r>
            <a:endParaRPr b="0" i="0" sz="1200" u="none" cap="none" strike="noStrike">
              <a:solidFill>
                <a:srgbClr val="304852"/>
              </a:solidFill>
              <a:latin typeface="Calibri"/>
              <a:ea typeface="Calibri"/>
              <a:cs typeface="Calibri"/>
              <a:sym typeface="Calibri"/>
            </a:endParaRPr>
          </a:p>
        </p:txBody>
      </p:sp>
      <p:sp>
        <p:nvSpPr>
          <p:cNvPr id="570" name="Google Shape;570;p92"/>
          <p:cNvSpPr txBox="1"/>
          <p:nvPr/>
        </p:nvSpPr>
        <p:spPr>
          <a:xfrm>
            <a:off x="8483816" y="5500228"/>
            <a:ext cx="3028246" cy="1140282"/>
          </a:xfrm>
          <a:prstGeom prst="rect">
            <a:avLst/>
          </a:prstGeom>
          <a:solidFill>
            <a:srgbClr val="92D050"/>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800" u="none" cap="none" strike="noStrike">
                <a:solidFill>
                  <a:srgbClr val="304852"/>
                </a:solidFill>
                <a:latin typeface="Calibri"/>
                <a:ea typeface="Calibri"/>
                <a:cs typeface="Calibri"/>
                <a:sym typeface="Calibri"/>
              </a:rPr>
              <a:t>stored In a field associated with position/orientation between the objects /particles</a:t>
            </a:r>
            <a:endParaRPr b="0" i="0" sz="1200" u="none" cap="none" strike="noStrike">
              <a:solidFill>
                <a:srgbClr val="304852"/>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93"/>
          <p:cNvSpPr txBox="1"/>
          <p:nvPr>
            <p:ph type="title"/>
          </p:nvPr>
        </p:nvSpPr>
        <p:spPr>
          <a:xfrm>
            <a:off x="0" y="0"/>
            <a:ext cx="12192000" cy="685800"/>
          </a:xfrm>
          <a:prstGeom prst="rect">
            <a:avLst/>
          </a:prstGeom>
          <a:solidFill>
            <a:srgbClr val="30485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
              <a:t>Complete an Exit Ticket</a:t>
            </a:r>
            <a:endParaRPr/>
          </a:p>
        </p:txBody>
      </p:sp>
      <p:sp>
        <p:nvSpPr>
          <p:cNvPr id="576" name="Google Shape;576;p93"/>
          <p:cNvSpPr/>
          <p:nvPr/>
        </p:nvSpPr>
        <p:spPr>
          <a:xfrm>
            <a:off x="538900" y="1258469"/>
            <a:ext cx="8574600" cy="3820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7" name="Google Shape;577;p93"/>
          <p:cNvSpPr txBox="1"/>
          <p:nvPr/>
        </p:nvSpPr>
        <p:spPr>
          <a:xfrm>
            <a:off x="2621199" y="1455882"/>
            <a:ext cx="5930700" cy="122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2600" u="none" cap="none" strike="noStrike">
                <a:solidFill>
                  <a:srgbClr val="304852"/>
                </a:solidFill>
                <a:latin typeface="Open Sans"/>
                <a:ea typeface="Open Sans"/>
                <a:cs typeface="Open Sans"/>
                <a:sym typeface="Open Sans"/>
              </a:rPr>
              <a:t>On your own</a:t>
            </a:r>
            <a:endParaRPr b="1" i="0" sz="26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None/>
            </a:pPr>
            <a:r>
              <a:rPr b="0" i="0" lang="en" sz="2500" u="none" cap="none" strike="noStrike">
                <a:solidFill>
                  <a:srgbClr val="304852"/>
                </a:solidFill>
                <a:latin typeface="Cabin"/>
                <a:ea typeface="Cabin"/>
                <a:cs typeface="Cabin"/>
                <a:sym typeface="Cabin"/>
              </a:rPr>
              <a:t>Complete the Exit Ticket on Krakatoa</a:t>
            </a:r>
            <a:r>
              <a:rPr lang="en" sz="2500">
                <a:solidFill>
                  <a:srgbClr val="304852"/>
                </a:solidFill>
                <a:latin typeface="Cabin"/>
                <a:ea typeface="Cabin"/>
                <a:cs typeface="Cabin"/>
                <a:sym typeface="Cabin"/>
              </a:rPr>
              <a:t> (on Schoology)</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None/>
            </a:pPr>
            <a:r>
              <a:rPr lang="en" sz="2500">
                <a:solidFill>
                  <a:srgbClr val="304852"/>
                </a:solidFill>
                <a:latin typeface="Cabin"/>
                <a:ea typeface="Cabin"/>
                <a:cs typeface="Cabin"/>
                <a:sym typeface="Cabin"/>
              </a:rPr>
              <a:t>Read the article first, underline key ideas, circle best answers…</a:t>
            </a:r>
            <a:endParaRPr sz="2500">
              <a:solidFill>
                <a:srgbClr val="304852"/>
              </a:solidFill>
              <a:latin typeface="Cabin"/>
              <a:ea typeface="Cabin"/>
              <a:cs typeface="Cabin"/>
              <a:sym typeface="Cabin"/>
            </a:endParaRPr>
          </a:p>
          <a:p>
            <a:pPr indent="0" lvl="0" marL="0" marR="0" rtl="0" algn="l">
              <a:lnSpc>
                <a:spcPct val="115000"/>
              </a:lnSpc>
              <a:spcBef>
                <a:spcPts val="1000"/>
              </a:spcBef>
              <a:spcAft>
                <a:spcPts val="0"/>
              </a:spcAft>
              <a:buNone/>
            </a:pPr>
            <a:r>
              <a:rPr lang="en" sz="2500" u="sng">
                <a:solidFill>
                  <a:schemeClr val="hlink"/>
                </a:solidFill>
                <a:latin typeface="Cabin"/>
                <a:ea typeface="Cabin"/>
                <a:cs typeface="Cabin"/>
                <a:sym typeface="Cabin"/>
                <a:hlinkClick r:id="rId3"/>
              </a:rPr>
              <a:t>Watch this Krakatoa clip first</a:t>
            </a:r>
            <a:endParaRPr sz="2500">
              <a:solidFill>
                <a:srgbClr val="304852"/>
              </a:solidFill>
              <a:latin typeface="Cabin"/>
              <a:ea typeface="Cabin"/>
              <a:cs typeface="Cabin"/>
              <a:sym typeface="Cabin"/>
            </a:endParaRPr>
          </a:p>
          <a:p>
            <a:pPr indent="0" lvl="0" marL="0" marR="0" rtl="0" algn="l">
              <a:lnSpc>
                <a:spcPct val="115000"/>
              </a:lnSpc>
              <a:spcBef>
                <a:spcPts val="1000"/>
              </a:spcBef>
              <a:spcAft>
                <a:spcPts val="0"/>
              </a:spcAft>
              <a:buNone/>
            </a:pPr>
            <a:r>
              <a:rPr lang="en" sz="2500" u="sng">
                <a:solidFill>
                  <a:schemeClr val="hlink"/>
                </a:solidFill>
                <a:latin typeface="Cabin"/>
                <a:ea typeface="Cabin"/>
                <a:cs typeface="Cabin"/>
                <a:sym typeface="Cabin"/>
                <a:hlinkClick r:id="rId4"/>
              </a:rPr>
              <a:t>Link to the Krakatoa article</a:t>
            </a:r>
            <a:endParaRPr sz="2500">
              <a:solidFill>
                <a:srgbClr val="304852"/>
              </a:solidFill>
              <a:latin typeface="Cabin"/>
              <a:ea typeface="Cabin"/>
              <a:cs typeface="Cabin"/>
              <a:sym typeface="Cabin"/>
            </a:endParaRPr>
          </a:p>
        </p:txBody>
      </p:sp>
      <p:pic>
        <p:nvPicPr>
          <p:cNvPr id="578" name="Google Shape;578;p93"/>
          <p:cNvPicPr preferRelativeResize="0"/>
          <p:nvPr/>
        </p:nvPicPr>
        <p:blipFill rotWithShape="1">
          <a:blip r:embed="rId5">
            <a:alphaModFix/>
          </a:blip>
          <a:srcRect b="0" l="0" r="0" t="0"/>
          <a:stretch/>
        </p:blipFill>
        <p:spPr>
          <a:xfrm>
            <a:off x="728524" y="1579883"/>
            <a:ext cx="1600200" cy="11906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94"/>
          <p:cNvSpPr txBox="1"/>
          <p:nvPr>
            <p:ph type="title"/>
          </p:nvPr>
        </p:nvSpPr>
        <p:spPr>
          <a:xfrm>
            <a:off x="0" y="0"/>
            <a:ext cx="12192000" cy="685800"/>
          </a:xfrm>
          <a:prstGeom prst="rect">
            <a:avLst/>
          </a:prstGeom>
          <a:solidFill>
            <a:srgbClr val="30485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
              <a:t>Lesson 4 Progress Tracker</a:t>
            </a:r>
            <a:endParaRPr/>
          </a:p>
        </p:txBody>
      </p:sp>
      <p:pic>
        <p:nvPicPr>
          <p:cNvPr id="584" name="Google Shape;584;p94"/>
          <p:cNvPicPr preferRelativeResize="0"/>
          <p:nvPr/>
        </p:nvPicPr>
        <p:blipFill rotWithShape="1">
          <a:blip r:embed="rId3">
            <a:alphaModFix/>
          </a:blip>
          <a:srcRect b="0" l="0" r="0" t="0"/>
          <a:stretch/>
        </p:blipFill>
        <p:spPr>
          <a:xfrm>
            <a:off x="279779" y="1023266"/>
            <a:ext cx="11632442" cy="530972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95"/>
          <p:cNvSpPr txBox="1"/>
          <p:nvPr>
            <p:ph type="title"/>
          </p:nvPr>
        </p:nvSpPr>
        <p:spPr>
          <a:xfrm>
            <a:off x="0" y="0"/>
            <a:ext cx="12192000" cy="686100"/>
          </a:xfrm>
          <a:prstGeom prst="rect">
            <a:avLst/>
          </a:prstGeom>
          <a:solidFill>
            <a:srgbClr val="30485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b="1" lang="en" sz="2800">
                <a:solidFill>
                  <a:srgbClr val="FFFFFF"/>
                </a:solidFill>
                <a:latin typeface="Open Sans"/>
                <a:ea typeface="Open Sans"/>
                <a:cs typeface="Open Sans"/>
                <a:sym typeface="Open Sans"/>
              </a:rPr>
              <a:t>Navigate</a:t>
            </a:r>
            <a:endParaRPr>
              <a:solidFill>
                <a:schemeClr val="lt1"/>
              </a:solidFill>
            </a:endParaRPr>
          </a:p>
        </p:txBody>
      </p:sp>
      <p:sp>
        <p:nvSpPr>
          <p:cNvPr id="590" name="Google Shape;590;p95"/>
          <p:cNvSpPr txBox="1"/>
          <p:nvPr>
            <p:ph idx="1" type="body"/>
          </p:nvPr>
        </p:nvSpPr>
        <p:spPr>
          <a:xfrm>
            <a:off x="140677" y="821516"/>
            <a:ext cx="11863754" cy="5907529"/>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Autofit/>
          </a:bodyPr>
          <a:lstStyle/>
          <a:p>
            <a:pPr indent="0" lvl="0" marL="1828800" rtl="0" algn="l">
              <a:lnSpc>
                <a:spcPct val="115000"/>
              </a:lnSpc>
              <a:spcBef>
                <a:spcPts val="0"/>
              </a:spcBef>
              <a:spcAft>
                <a:spcPts val="0"/>
              </a:spcAft>
              <a:buClr>
                <a:schemeClr val="dk1"/>
              </a:buClr>
              <a:buSzPts val="1100"/>
              <a:buNone/>
            </a:pPr>
            <a:r>
              <a:t/>
            </a:r>
            <a:endParaRPr sz="3050"/>
          </a:p>
          <a:p>
            <a:pPr indent="0" lvl="0" marL="1828800" rtl="0" algn="l">
              <a:lnSpc>
                <a:spcPct val="115000"/>
              </a:lnSpc>
              <a:spcBef>
                <a:spcPts val="0"/>
              </a:spcBef>
              <a:spcAft>
                <a:spcPts val="0"/>
              </a:spcAft>
              <a:buSzPts val="3600"/>
              <a:buNone/>
            </a:pPr>
            <a:r>
              <a:t/>
            </a:r>
            <a:endParaRPr sz="3050"/>
          </a:p>
          <a:p>
            <a:pPr indent="0" lvl="0" marL="1828800" rtl="0" algn="l">
              <a:lnSpc>
                <a:spcPct val="115000"/>
              </a:lnSpc>
              <a:spcBef>
                <a:spcPts val="0"/>
              </a:spcBef>
              <a:spcAft>
                <a:spcPts val="0"/>
              </a:spcAft>
              <a:buSzPts val="3600"/>
              <a:buNone/>
            </a:pPr>
            <a:r>
              <a:t/>
            </a:r>
            <a:endParaRPr sz="3050"/>
          </a:p>
          <a:p>
            <a:pPr indent="0" lvl="0" marL="1828800" rtl="0" algn="l">
              <a:lnSpc>
                <a:spcPct val="115000"/>
              </a:lnSpc>
              <a:spcBef>
                <a:spcPts val="0"/>
              </a:spcBef>
              <a:spcAft>
                <a:spcPts val="0"/>
              </a:spcAft>
              <a:buSzPts val="3600"/>
              <a:buNone/>
            </a:pPr>
            <a:r>
              <a:t/>
            </a:r>
            <a:endParaRPr sz="3050"/>
          </a:p>
          <a:p>
            <a:pPr indent="0" lvl="0" marL="1828800" rtl="0" algn="l">
              <a:lnSpc>
                <a:spcPct val="115000"/>
              </a:lnSpc>
              <a:spcBef>
                <a:spcPts val="0"/>
              </a:spcBef>
              <a:spcAft>
                <a:spcPts val="0"/>
              </a:spcAft>
              <a:buSzPts val="3600"/>
              <a:buNone/>
            </a:pPr>
            <a:r>
              <a:t/>
            </a:r>
            <a:endParaRPr sz="3050"/>
          </a:p>
          <a:p>
            <a:pPr indent="0" lvl="0" marL="1828800" rtl="0" algn="l">
              <a:lnSpc>
                <a:spcPct val="115000"/>
              </a:lnSpc>
              <a:spcBef>
                <a:spcPts val="0"/>
              </a:spcBef>
              <a:spcAft>
                <a:spcPts val="0"/>
              </a:spcAft>
              <a:buSzPts val="3600"/>
              <a:buNone/>
            </a:pPr>
            <a:r>
              <a:t/>
            </a:r>
            <a:endParaRPr sz="3050"/>
          </a:p>
          <a:p>
            <a:pPr indent="0" lvl="0" marL="228600" rtl="0" algn="l">
              <a:lnSpc>
                <a:spcPct val="115000"/>
              </a:lnSpc>
              <a:spcBef>
                <a:spcPts val="0"/>
              </a:spcBef>
              <a:spcAft>
                <a:spcPts val="0"/>
              </a:spcAft>
              <a:buSzPts val="3600"/>
              <a:buNone/>
            </a:pPr>
            <a:r>
              <a:t/>
            </a:r>
            <a:endParaRPr sz="3050"/>
          </a:p>
          <a:p>
            <a:pPr indent="0" lvl="0" marL="228600" rtl="0" algn="l">
              <a:lnSpc>
                <a:spcPct val="115000"/>
              </a:lnSpc>
              <a:spcBef>
                <a:spcPts val="0"/>
              </a:spcBef>
              <a:spcAft>
                <a:spcPts val="0"/>
              </a:spcAft>
              <a:buSzPts val="3600"/>
              <a:buNone/>
            </a:pPr>
            <a:r>
              <a:t/>
            </a:r>
            <a:endParaRPr sz="3050"/>
          </a:p>
          <a:p>
            <a:pPr indent="0" lvl="0" marL="228600" rtl="0" algn="l">
              <a:lnSpc>
                <a:spcPct val="115000"/>
              </a:lnSpc>
              <a:spcBef>
                <a:spcPts val="0"/>
              </a:spcBef>
              <a:spcAft>
                <a:spcPts val="0"/>
              </a:spcAft>
              <a:buSzPts val="3600"/>
              <a:buNone/>
            </a:pPr>
            <a:r>
              <a:t/>
            </a:r>
            <a:endParaRPr sz="3050"/>
          </a:p>
          <a:p>
            <a:pPr indent="0" lvl="0" marL="0" rtl="0" algn="l">
              <a:lnSpc>
                <a:spcPct val="115000"/>
              </a:lnSpc>
              <a:spcBef>
                <a:spcPts val="0"/>
              </a:spcBef>
              <a:spcAft>
                <a:spcPts val="1000"/>
              </a:spcAft>
              <a:buSzPts val="3600"/>
              <a:buNone/>
            </a:pPr>
            <a:r>
              <a:t/>
            </a:r>
            <a:endParaRPr sz="2400"/>
          </a:p>
        </p:txBody>
      </p:sp>
      <p:sp>
        <p:nvSpPr>
          <p:cNvPr id="591" name="Google Shape;591;p95"/>
          <p:cNvSpPr txBox="1"/>
          <p:nvPr/>
        </p:nvSpPr>
        <p:spPr>
          <a:xfrm>
            <a:off x="2226926" y="1017242"/>
            <a:ext cx="3036735" cy="7986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000000"/>
              </a:solidFill>
              <a:latin typeface="Open Sans"/>
              <a:ea typeface="Open Sans"/>
              <a:cs typeface="Open Sans"/>
              <a:sym typeface="Open Sans"/>
            </a:endParaRPr>
          </a:p>
        </p:txBody>
      </p:sp>
      <p:sp>
        <p:nvSpPr>
          <p:cNvPr id="592" name="Google Shape;592;p95"/>
          <p:cNvSpPr txBox="1"/>
          <p:nvPr/>
        </p:nvSpPr>
        <p:spPr>
          <a:xfrm>
            <a:off x="2203151" y="1650788"/>
            <a:ext cx="3954591" cy="2148214"/>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None/>
            </a:pPr>
            <a:r>
              <a:rPr b="1" i="0" lang="en" sz="2500" u="none" cap="none" strike="noStrike">
                <a:solidFill>
                  <a:srgbClr val="304852"/>
                </a:solidFill>
                <a:latin typeface="Cabin"/>
                <a:ea typeface="Cabin"/>
                <a:cs typeface="Cabin"/>
                <a:sym typeface="Cabin"/>
              </a:rPr>
              <a:t>Take a poll:</a:t>
            </a:r>
            <a:r>
              <a:rPr b="0" i="0" lang="en" sz="2500" u="none" cap="none" strike="noStrike">
                <a:solidFill>
                  <a:srgbClr val="304852"/>
                </a:solidFill>
                <a:latin typeface="Cabin"/>
                <a:ea typeface="Cabin"/>
                <a:cs typeface="Cabin"/>
                <a:sym typeface="Cabin"/>
              </a:rPr>
              <a:t> Can we fully explain what is happening at Afar, or do we need more information/data?</a:t>
            </a:r>
            <a:endParaRPr b="0" i="0" sz="2300" u="none" cap="none" strike="noStrike">
              <a:solidFill>
                <a:srgbClr val="304852"/>
              </a:solidFill>
              <a:latin typeface="Cabin"/>
              <a:ea typeface="Cabin"/>
              <a:cs typeface="Cabin"/>
              <a:sym typeface="Cabin"/>
            </a:endParaRPr>
          </a:p>
        </p:txBody>
      </p:sp>
      <p:pic>
        <p:nvPicPr>
          <p:cNvPr id="593" name="Google Shape;593;p95"/>
          <p:cNvPicPr preferRelativeResize="0"/>
          <p:nvPr/>
        </p:nvPicPr>
        <p:blipFill rotWithShape="1">
          <a:blip r:embed="rId3">
            <a:alphaModFix/>
          </a:blip>
          <a:srcRect b="0" l="0" r="0" t="0"/>
          <a:stretch/>
        </p:blipFill>
        <p:spPr>
          <a:xfrm>
            <a:off x="430627" y="1070593"/>
            <a:ext cx="1482575" cy="1511675"/>
          </a:xfrm>
          <a:prstGeom prst="rect">
            <a:avLst/>
          </a:prstGeom>
          <a:noFill/>
          <a:ln>
            <a:noFill/>
          </a:ln>
        </p:spPr>
      </p:pic>
      <p:pic>
        <p:nvPicPr>
          <p:cNvPr id="594" name="Google Shape;594;p95"/>
          <p:cNvPicPr preferRelativeResize="0"/>
          <p:nvPr/>
        </p:nvPicPr>
        <p:blipFill rotWithShape="1">
          <a:blip r:embed="rId4">
            <a:alphaModFix/>
          </a:blip>
          <a:srcRect b="0" l="7368" r="2985" t="0"/>
          <a:stretch/>
        </p:blipFill>
        <p:spPr>
          <a:xfrm>
            <a:off x="6400800" y="1018465"/>
            <a:ext cx="5360573" cy="5500653"/>
          </a:xfrm>
          <a:prstGeom prst="rect">
            <a:avLst/>
          </a:prstGeom>
          <a:noFill/>
          <a:ln cap="flat" cmpd="sng" w="19050">
            <a:solidFill>
              <a:srgbClr val="30485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High_School_Physics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