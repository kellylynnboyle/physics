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4660966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4660966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4660966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4660966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35d36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35d36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0d03a6a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0d03a6a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0d03a6a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0d03a6a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823bfa80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2823bfa80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a4df63c0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a4df63c0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89f74b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389f74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823bfa8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823bfa8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823bfa8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823bfa8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4df63c0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4df63c0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e9c302a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2e9c302a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C3nxr4VWxtH4g_p-nah4m1XSJStaNNlgGnbguWrwrdk/edit?usp=sharing" TargetMode="External"/><Relationship Id="rId4" Type="http://schemas.openxmlformats.org/officeDocument/2006/relationships/hyperlink" Target="https://storymaps.arcgis.com/stories/cec4666626a04695b3a707b8968e1bb6" TargetMode="External"/><Relationship Id="rId5" Type="http://schemas.openxmlformats.org/officeDocument/2006/relationships/hyperlink" Target="https://bscs.maps.arcgis.com/apps/webappviewer/index.html?id=4c49f65a3e6d4976b560e8bd874e6c2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presentation/d/1eOqc51tlA2EQERlw0IUazAUs9qp8iL7tsHj1NkeZO2s/edit?usp=sharing" TargetMode="External"/><Relationship Id="rId4" Type="http://schemas.openxmlformats.org/officeDocument/2006/relationships/hyperlink" Target="https://docs.google.com/document/d/1KAWOeMYUkHLqAQP1fc8kNJfqvGfPw0VQl-TH3VfVdZs/edit?usp=sharing" TargetMode="External"/><Relationship Id="rId5" Type="http://schemas.openxmlformats.org/officeDocument/2006/relationships/hyperlink" Target="https://drive.google.com/file/d/1jm6oKKWOg6KfkdrXQxDOlzdpGSQLMZQH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presentation/d/1eOqc51tlA2EQERlw0IUazAUs9qp8iL7tsHj1NkeZO2s/edit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presentation/d/1k2bANMDHO4_Oi2tYgL72QI2Fxnwg_B3zM2MyYpXkXbk/edit?usp=sharing" TargetMode="External"/><Relationship Id="rId4" Type="http://schemas.openxmlformats.org/officeDocument/2006/relationships/hyperlink" Target="https://docs.google.com/document/d/1dJhf-KiMxo2oWzDp0JjAaZyY8touL5rXp6Cb1pQanrQ/edit?usp=sharing" TargetMode="External"/><Relationship Id="rId5" Type="http://schemas.openxmlformats.org/officeDocument/2006/relationships/hyperlink" Target="https://drive.google.com/file/d/1qV7V9T07tkNRuEDijLVqHzzKkT46xr9k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presentation/d/1T_oD8epgPm1oArULOLMxGYcGJQ1V-x_hPmT_Y-0LXC4/edit?usp=sharing" TargetMode="External"/><Relationship Id="rId4" Type="http://schemas.openxmlformats.org/officeDocument/2006/relationships/hyperlink" Target="https://docs.google.com/document/d/1UbMlNeITJfTVBwrP-nZzEeo8nScEALkf1iIa3fnuh-M/edit?usp=sharing" TargetMode="External"/><Relationship Id="rId9" Type="http://schemas.openxmlformats.org/officeDocument/2006/relationships/hyperlink" Target="https://drive.google.com/file/d/1uvA3NYJmwTpgGHCXY5JUOZ6hRuC4LWAT/view?usp=sharing" TargetMode="External"/><Relationship Id="rId5" Type="http://schemas.openxmlformats.org/officeDocument/2006/relationships/hyperlink" Target="https://docs.google.com/document/d/1SDwUv5CtWGM5n-o7GbDGzgtfONuD21nVEkRLUWzTRFs/edit?usp=sharing" TargetMode="External"/><Relationship Id="rId6" Type="http://schemas.openxmlformats.org/officeDocument/2006/relationships/hyperlink" Target="https://openscied-static.s3.amazonaws.com/HTML+Files/Apply+and+Remove+External+Force+on+a+Solid.html" TargetMode="External"/><Relationship Id="rId7" Type="http://schemas.openxmlformats.org/officeDocument/2006/relationships/hyperlink" Target="https://docs.google.com/document/d/1tpe62xqeJpwxHHdZ1VyGHs2y9_XTaiUdIxmDiZmQy1w/edit?usp=sharing" TargetMode="External"/><Relationship Id="rId8" Type="http://schemas.openxmlformats.org/officeDocument/2006/relationships/hyperlink" Target="https://docs.google.com/document/d/1oXqWwmoUupyeK6DsHLOQBc5ZTCjj6jEmOypudoEgz8s/edit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presentation/d/1pUiaX9MnBfZR-XCMwApq0nUCqi7hbzud99Fwk2AQ-NE/edit?usp=sharing" TargetMode="External"/><Relationship Id="rId4" Type="http://schemas.openxmlformats.org/officeDocument/2006/relationships/hyperlink" Target="https://docs.google.com/presentation/d/1LlnxmRq9fUKyaURbOImvFo0ehZ0R3aLqdrjG0QjrU48/edit?usp=sharing" TargetMode="External"/><Relationship Id="rId5" Type="http://schemas.openxmlformats.org/officeDocument/2006/relationships/hyperlink" Target="https://docs.google.com/document/d/1vgV5edy4Mcvalo4F4W_fDbInX2St8vkKosibcYmCCjY/edit?usp=sharing" TargetMode="External"/><Relationship Id="rId6" Type="http://schemas.openxmlformats.org/officeDocument/2006/relationships/hyperlink" Target="https://docs.google.com/document/d/1oyBC8V0MhyXvHOHgCwnyUCAUazzDQvBEoCCwlh3UXVA/edit?usp=sharing" TargetMode="External"/><Relationship Id="rId7" Type="http://schemas.openxmlformats.org/officeDocument/2006/relationships/hyperlink" Target="https://drive.google.com/file/d/1CwCdDngjMQj_AHWygl_w7NfCn4NYlkT3/view?usp=shar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document/d/1W7CjlFxAUQPtwopGtgxyJ1bi08HSlT_LDE2567pnj20/edit?usp=sharing" TargetMode="External"/><Relationship Id="rId4" Type="http://schemas.openxmlformats.org/officeDocument/2006/relationships/hyperlink" Target="https://docs.google.com/presentation/d/1vrZaQP_-Iyt0tLqCwqbUcvTZTs4DKd16ZuYF5fVPmu4/edit?usp=sharing" TargetMode="External"/><Relationship Id="rId5" Type="http://schemas.openxmlformats.org/officeDocument/2006/relationships/hyperlink" Target="https://docs.google.com/presentation/d/1rjMQxe9RuSk_Dt93emoJTYnGqW4L2Ohs0PyTlxXJljY/edit?usp=sharing" TargetMode="External"/><Relationship Id="rId6" Type="http://schemas.openxmlformats.org/officeDocument/2006/relationships/hyperlink" Target="https://docs.google.com/presentation/d/1V10Op8FMOyF5lQn_uBj6BJSp9ModvUEDbu5IwKdy5jk/edit?usp=sharing" TargetMode="External"/><Relationship Id="rId7" Type="http://schemas.openxmlformats.org/officeDocument/2006/relationships/hyperlink" Target="https://drive.google.com/file/d/1VVJX1FrLz51AXHUhVKiDq-sav5r3xmgM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presentation/d/10t9I2nBjJWeUWFVH9Utwk5_MdPj634Zm4TbbAnXlMSE/edit?usp=sharing" TargetMode="External"/><Relationship Id="rId4" Type="http://schemas.openxmlformats.org/officeDocument/2006/relationships/hyperlink" Target="https://drive.google.com/file/d/1ZG3NE3ulW09esb1yewi8kH5qR6aIEOVV/view?usp=sharing" TargetMode="External"/><Relationship Id="rId5" Type="http://schemas.openxmlformats.org/officeDocument/2006/relationships/hyperlink" Target="https://docs.google.com/document/d/1cKyu_i6K6qi8ZE57Ez91uMGCWhZh_7zIo1edR698SPg/edit?usp=sharing" TargetMode="External"/><Relationship Id="rId6" Type="http://schemas.openxmlformats.org/officeDocument/2006/relationships/hyperlink" Target="https://drive.google.com/file/d/145bj0C-_EGc-p1Ip9wStGPwht0nCRp1x/view?usp=sharing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presentation/d/1bIxbKAHOFzrwwMaWzAz8yq8BzXLGRQCSHQeiN4jc5yM/edit?usp=sharing" TargetMode="External"/><Relationship Id="rId4" Type="http://schemas.openxmlformats.org/officeDocument/2006/relationships/hyperlink" Target="https://www.youtube.com/watch?v=7CPv0NSIG2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nmusd.schoology.com" TargetMode="External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2 Overview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4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Energy, Forces and Earth’s Crust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(you can find me on Schoology:)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1 -  (8/25 - 8/26)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1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Intro story Afar event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Link to equake volcano 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8/27 - 8/28 (block day) 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Revisit Lesson 1 models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Make Driving Question Board (post-its)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Tracker for L1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Lesson 2 Investigations (prep the spring scales &amp; foam blocks)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2 Lecture slides for notes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L2 Investigations wkst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HW:  </a:t>
            </a:r>
            <a:r>
              <a:rPr lang="en"/>
              <a:t>Lesson 2 Review wkst (Net Force) 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Lesson 2 Notes and Force review solutions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8/31 - 9/1 (block)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Concept Builder “Equilibrium” (Apprentice only)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Whiteboard</a:t>
            </a:r>
            <a:r>
              <a:rPr lang="en"/>
              <a:t> practice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Vector Walk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Practice wkst (P.2 L2 Free Body Diagrams for partner practice)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2 Lecture notes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(solutions and video explanations are inside the lecture notes)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9/2 - 9/3 Block 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Quiz Lesson 2 Forces &amp; Stability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Prepare the foam for elastic demo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3 Slides modified</a:t>
            </a:r>
            <a:r>
              <a:rPr lang="en"/>
              <a:t> for the Notes 3A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article rock sample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Update Progress Tracker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Link to Lesson 3 Notes filled 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9/4 (particle model sim) - Minimum Day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4 slides modified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Notes Lesson 4 wkst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Students use the </a:t>
            </a:r>
            <a:r>
              <a:rPr lang="en" u="sng">
                <a:solidFill>
                  <a:schemeClr val="hlink"/>
                </a:solidFill>
                <a:hlinkClick r:id="rId5"/>
              </a:rPr>
              <a:t>Link to Eval Model wkst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Link to Simulator particle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Link to Particle Investigation wkst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Link to Krakatoa Exit Ticket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Link to Lesson 4 Notes filled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9/8 - Earth’s interior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Link to Lesson 5 slides modified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L5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Article How do Scientists explore Earth's Interior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Article Mantle and the Moho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1 - P &amp; S waves from Earthquakes, intro to Mantle Cross Section simulator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2 - Mantle Cross Section Lab activity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Link to L5 Notes filled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Mid Unit Assessment (check for understanding)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35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9/10 - 9/11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Gizmo “Convection” 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 to Gizmo Convection packet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Link to Lesson 6-7 Slides</a:t>
            </a:r>
            <a:r>
              <a:rPr lang="en"/>
              <a:t> modified (including convection tank video)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L6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Video of the heat source under the water tank (convection)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L7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Matter - Force - Energy triangle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Link to Notes 6-7 Filled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9/14 Late Start 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Quiz on Lessons 4 - 7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9/15 - 9/16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L8 9 &amp; 10 slides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Lesson 8 - Age of Rocks (what we learn)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Lesson 9 - Density of rock (basalt vs granite)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Lesson 10 - Plate boundaries (what happens at convergent, divergent and transform boundaries)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Lessons 8, 9 &amp; 10 Notes filled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U2 Study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Link to solutions for Study Guide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Optional resources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Friction &amp; Forces on an incline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slides L11 - 12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to Crash Course Video "Plate Tectonics"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514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90"/>
              <a:t>Park phones</a:t>
            </a:r>
            <a:endParaRPr sz="21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90"/>
              <a:t>Have 3 colored pencils at desk</a:t>
            </a:r>
            <a:endParaRPr sz="21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90"/>
              <a:t>Chromebook ready (go directly to </a:t>
            </a:r>
            <a:r>
              <a:rPr lang="en" sz="2190" u="sng">
                <a:solidFill>
                  <a:schemeClr val="hlink"/>
                </a:solidFill>
                <a:hlinkClick r:id="rId3"/>
              </a:rPr>
              <a:t>nmusd.schoology.com</a:t>
            </a:r>
            <a:r>
              <a:rPr lang="en" sz="2190"/>
              <a:t> </a:t>
            </a:r>
            <a:endParaRPr sz="21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90"/>
              <a:t>Questions?  Q&amp;A </a:t>
            </a:r>
            <a:endParaRPr sz="21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239"/>
              <a:buFont typeface="Arial"/>
              <a:buNone/>
            </a:pPr>
            <a:r>
              <a:rPr b="1" lang="en" sz="2190">
                <a:solidFill>
                  <a:srgbClr val="FF0000"/>
                </a:solidFill>
              </a:rPr>
              <a:t>Test Unit 2 Energy Forces and Earth’s Crust (27 MC &amp; 1 Short Answer) </a:t>
            </a:r>
            <a:endParaRPr b="1" sz="219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239"/>
              <a:buFont typeface="Arial"/>
              <a:buNone/>
            </a:pPr>
            <a:r>
              <a:rPr b="1" lang="en" sz="2190">
                <a:solidFill>
                  <a:srgbClr val="FF0000"/>
                </a:solidFill>
              </a:rPr>
              <a:t>Work quietly when finished </a:t>
            </a:r>
            <a:endParaRPr b="1" sz="219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 rotWithShape="1">
          <a:blip r:embed="rId4">
            <a:alphaModFix/>
          </a:blip>
          <a:srcRect b="47534" l="24098" r="23527" t="0"/>
          <a:stretch/>
        </p:blipFill>
        <p:spPr>
          <a:xfrm>
            <a:off x="6058539" y="1163892"/>
            <a:ext cx="2473024" cy="270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13 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